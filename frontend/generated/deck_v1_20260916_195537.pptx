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is trading durability for simplicity: we drop the BFF requirement snapshot and keep requirement memory inside the GenSlide process instead. That only works if the BFF routes every request in a session to the same Pod and the same ASGI process, and Kubernetes ClientIP affinity is not a substitute because it groups users by source IP rather than session_id. Memory entries should be bound to full identity and runtime identifiers, with a four-hour idle cleanup plus per-session and total size caps. If a record is lost, we must tell the user the requirement context has expired and ask them to confirm again — what is lost is the memory, not the files already handed to the BFF.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内存方案成立的前提，是把会话保持落实到 BFF 到 GenSlide 这一跳，并且按业务 session_id 而不是用户身份或来源 IP 来路由。它本质上是用允许记忆丢失来换取架构简化，Pod 被替换或路由变化后，内存里的需求记忆无法靠亲和恢复。需要强调的是，丢失的只是需求记忆，已经交给 BFF 的文件、执行授权、幂等与交接回执仍由 BFF 保存，不受影响。内存中的需求还要绑定完整身份与运行时标识，并设置 4 小时空闲清理、单会话和总容量上限，丢失时应明确提示上下文已失效；若要求发布或故障切换后仍不丢记忆，就应保留 BFF 快照，并同步移除原先关于粘性路由与重启恢复的承诺。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session stickiness is meant to keep a conversation landing on one GenSlide instance, requirements can live in memory, but only by giving up durability guarantees. A logged-in browser or stable BFF does not guarantee the same Pod, so routing should key on the session identifier rather than the user, and a single ASGI process per Pod avoids the split-memory problem of multiple Python workers. Be careful with the Kubernetes Service ClientIP option: it pins by source IP, so behind your BFF it can funnel many unrelated users into one Pod and is not a real business-session solution. Since affinity handles routing only, any restart, failure, or route change means the requirement context is gone and users must be told to re-confirm; if continuity across releases and failover is required, keep the BFF snapshot and drop any promise of sticky-free, restart-safe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approach simplifies the BFF by keeping requirement state inside the GenSlide process, but it explicitly accepts that a restart, failure, or routing change will erase that state. Session affinity must be based on the business session identifier rather than user or source IP, and even then it only controls routing, not persistence. If the memory is lost, the system should clearly tell the user the context has expired and ask them to re-confirm, rather than pretending to remember. The recommendation is to accept this only for phase one, where continuous conversation is enough and re-confirmation after a restart is tolerable.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需要澄清一个常见误解：Kubernetes Service 的 ClientIP 会话亲和是基于来源地址做转发决策的，并不理解我们的业务会话概念。由于请求都经由 BFF 转发，大量用户很可能被哈希到同一个 Pod，既达不到隔离效果，也无法保证同一会话落到同一实例。因此它只能算网络层的近似手段，真正的会话保持应当基于 session_id 来实现。同时要牢记，亲和性只解决路由问题，一旦 Pod 被替换或重启，内存中的需求上下文就会丢失，必须让用户重新确认，而不能假装仍然记得。</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把需求记忆放进 GenSlide 进程内存，本质是用“允许记忆丢失”换取架构简化，因此它拿不到 BFF 持久化同样的保证。要做到这一点，必须保证 BFF 到 GenSlide 的粘性路由按会话标识而不是按用户，并且同一个 Pod 内只跑一个 ASGI 进程；否则多个 Worker 的内存并不共享。需要特别提醒，Kubernetes Service 的 ClientIP 亲和是按来源 IP，在 BFF 转发场景下可能把大量用户压到同一 Pod，不能当作业务会话保持方案。责任划分上，需求、偏好和澄清状态留在 GenSlide 内存，而授权、版本、幂等和文件结果仍由 BFF 负责；一旦内存丢失，要明确提示需求上下文已失效，请用户重新确认，而不是假装还记得。</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In-memory requirement memory only works if the BFF-to-GenSlide route sticks to one pod and one process per session. That trade means accepting that a restart, pod replacement, or routing shift loses the requirement context, because affinity routes traffic but never preserves memory. Kubernetes' built-in ClientIP affinity keys on source IP, so behind a BFF it can collapse many users onto one pod and cannot serve as a real business session mechanism. When memory is lost, the system must explicitly tell the user the requirement context has expired and ask them to reconfirm, while noting that generated files and results remain safe with the BFF.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accept that continuous dialogue works in normal operation but requirements must be re-confirmed after a restart, the in-memory approach is viable; if memory must survive releases and failover, we keep the BFF snapshot instead. Note that Kubernetes Service ClientIP affinity keys on source IP rather than business session_id, so it can funnel many users onto one Pod and cannot serve as a business session-stickiness solution. In-memory requirements still need full identity binding, a four-hour idle cleanup, per-session and total size caps, and candidate-copy updates committed only after BFF confirms. When memory is lost, the system must say the requirement context is invalid and ask for reconfirmation — what is lost is requirement memory, not files already handed to the BFF.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0"/>
            <a:ext cx="8046720" cy="1280160"/>
          </a:xfrm>
          <a:prstGeom prst="rect">
            <a:avLst/>
          </a:prstGeom>
          <a:noFill/>
        </p:spPr>
        <p:txBody>
          <a:bodyPr wrap="square"/>
          <a:lstStyle/>
          <a:p>
            <a:pPr algn="l"/>
            <a:r>
              <a:rPr sz="4400" b="1">
                <a:solidFill>
                  <a:srgbClr val="FFFFFF"/>
                </a:solidFill>
                <a:latin typeface="Calibri"/>
              </a:rPr>
              <a:t>In-Memory Session Memory Tradeoff</a:t>
            </a:r>
          </a:p>
        </p:txBody>
      </p:sp>
      <p:sp>
        <p:nvSpPr>
          <p:cNvPr id="4" name="Rectangle 3"/>
          <p:cNvSpPr/>
          <p:nvPr/>
        </p:nvSpPr>
        <p:spPr>
          <a:xfrm>
            <a:off x="502920" y="2880360"/>
            <a:ext cx="3200400" cy="25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063240"/>
            <a:ext cx="8046720" cy="731520"/>
          </a:xfrm>
          <a:prstGeom prst="rect">
            <a:avLst/>
          </a:prstGeom>
          <a:noFill/>
        </p:spPr>
        <p:txBody>
          <a:bodyPr wrap="square"/>
          <a:lstStyle/>
          <a:p>
            <a:pPr algn="l"/>
            <a:r>
              <a:rPr sz="1800" b="0">
                <a:solidFill>
                  <a:srgbClr val="CADCFC"/>
                </a:solidFill>
                <a:latin typeface="Calibri"/>
              </a:rPr>
              <a:t>Generated by GenSlide · AI-powered presentation builder</a:t>
            </a:r>
          </a:p>
        </p:txBody>
      </p:sp>
      <p:sp>
        <p:nvSpPr>
          <p:cNvPr id="6" name="TextBox 5"/>
          <p:cNvSpPr txBox="1"/>
          <p:nvPr/>
        </p:nvSpPr>
        <p:spPr>
          <a:xfrm>
            <a:off x="6858000" y="4663440"/>
            <a:ext cx="2103120" cy="365760"/>
          </a:xfrm>
          <a:prstGeom prst="rect">
            <a:avLst/>
          </a:prstGeom>
          <a:noFill/>
        </p:spPr>
        <p:txBody>
          <a:bodyPr wrap="square"/>
          <a:lstStyle/>
          <a:p>
            <a:pPr algn="r"/>
            <a:r>
              <a:rPr sz="1000" b="0">
                <a:solidFill>
                  <a:srgbClr val="CADCFC"/>
                </a:solidFill>
                <a:latin typeface="Calibri"/>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In-Memory Session Memory Tradeoff</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1</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Keep requirement memory in GenSlide process memory instead of BFF snapshots</a:t>
            </a:r>
          </a:p>
          <a:p>
            <a:pPr>
              <a:buChar char="▸"/>
              <a:buFont typeface="Arial"/>
              <a:spcBef>
                <a:spcPts val="160"/>
              </a:spcBef>
            </a:pPr>
            <a:r>
              <a:rPr sz="2000">
                <a:solidFill>
                  <a:srgbClr val="1A1A2E"/>
                </a:solidFill>
                <a:latin typeface="Calibri"/>
              </a:rPr>
              <a:t>Requires session-level routing affinity from BFF to GenSlide, not user login</a:t>
            </a:r>
          </a:p>
          <a:p>
            <a:pPr>
              <a:buChar char="▸"/>
              <a:buFont typeface="Arial"/>
              <a:spcBef>
                <a:spcPts val="160"/>
              </a:spcBef>
            </a:pPr>
            <a:r>
              <a:rPr sz="2000">
                <a:solidFill>
                  <a:srgbClr val="1A1A2E"/>
                </a:solidFill>
                <a:latin typeface="Calibri"/>
              </a:rPr>
              <a:t>Kubernetes ClientIP affinity routes by source IP, not business session_id</a:t>
            </a:r>
          </a:p>
          <a:p>
            <a:pPr>
              <a:buChar char="▸"/>
              <a:buFont typeface="Arial"/>
              <a:spcBef>
                <a:spcPts val="160"/>
              </a:spcBef>
            </a:pPr>
            <a:r>
              <a:rPr sz="2000">
                <a:solidFill>
                  <a:srgbClr val="1A1A2E"/>
                </a:solidFill>
                <a:latin typeface="Calibri"/>
              </a:rPr>
              <a:t>Restarts, failures, or routing changes silently lose requirement memory</a:t>
            </a:r>
          </a:p>
          <a:p>
            <a:pPr>
              <a:buChar char="▸"/>
              <a:buFont typeface="Arial"/>
              <a:spcBef>
                <a:spcPts val="160"/>
              </a:spcBef>
            </a:pPr>
            <a:r>
              <a:rPr sz="2000">
                <a:solidFill>
                  <a:srgbClr val="1A1A2E"/>
                </a:solidFill>
                <a:latin typeface="Calibri"/>
              </a:rPr>
              <a:t>BFF still owns authorization, idempotency, handoff receipts, and generated files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1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Session Affinity Routing Requirements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2</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会话保持只覆盖 BFF → GenSlide 路由，不保证浏览器与 BFF 侧连续</a:t>
            </a:r>
          </a:p>
          <a:p>
            <a:pPr>
              <a:buChar char="▸"/>
              <a:buFont typeface="Arial"/>
              <a:spcBef>
                <a:spcPts val="160"/>
              </a:spcBef>
            </a:pPr>
            <a:r>
              <a:rPr sz="2000">
                <a:solidFill>
                  <a:srgbClr val="1A1A2E"/>
                </a:solidFill>
                <a:latin typeface="Calibri"/>
              </a:rPr>
              <a:t>应按会话标识 session_id 路由，而非只按用户或来源 IP</a:t>
            </a:r>
          </a:p>
          <a:p>
            <a:pPr>
              <a:buChar char="▸"/>
              <a:buFont typeface="Arial"/>
              <a:spcBef>
                <a:spcPts val="160"/>
              </a:spcBef>
            </a:pPr>
            <a:r>
              <a:rPr sz="2000">
                <a:solidFill>
                  <a:srgbClr val="1A1A2E"/>
                </a:solidFill>
                <a:latin typeface="Calibri"/>
              </a:rPr>
              <a:t>需沿用一 Pod 一 ASGI 进程，避免多 Worker 内存不共享</a:t>
            </a:r>
          </a:p>
          <a:p>
            <a:pPr>
              <a:buChar char="▸"/>
              <a:buFont typeface="Arial"/>
              <a:spcBef>
                <a:spcPts val="160"/>
              </a:spcBef>
            </a:pPr>
            <a:r>
              <a:rPr sz="2000">
                <a:solidFill>
                  <a:srgbClr val="1A1A2E"/>
                </a:solidFill>
                <a:latin typeface="Calibri"/>
              </a:rPr>
              <a:t>接受重启、故障或路由变化后丢失需求记忆</a:t>
            </a:r>
          </a:p>
          <a:p>
            <a:pPr>
              <a:buChar char="▸"/>
              <a:buFont typeface="Arial"/>
              <a:spcBef>
                <a:spcPts val="160"/>
              </a:spcBef>
            </a:pPr>
            <a:r>
              <a:rPr sz="2000">
                <a:solidFill>
                  <a:srgbClr val="1A1A2E"/>
                </a:solidFill>
                <a:latin typeface="Calibri"/>
              </a:rPr>
              <a:t>Kubernetes ClientIP 亲和按来源 IP，不能当作业务会话保持</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2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Pod and Process Affinity Constraints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3</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affinity must route BFF to GenSlide by session ID, not just user</a:t>
            </a:r>
          </a:p>
          <a:p>
            <a:pPr>
              <a:buChar char="▸"/>
              <a:buFont typeface="Arial"/>
              <a:spcBef>
                <a:spcPts val="160"/>
              </a:spcBef>
            </a:pPr>
            <a:r>
              <a:rPr sz="2000">
                <a:solidFill>
                  <a:srgbClr val="1A1A2E"/>
                </a:solidFill>
                <a:latin typeface="Calibri"/>
              </a:rPr>
              <a:t>Run one ASGI process per Pod so in-memory state is shared</a:t>
            </a:r>
          </a:p>
          <a:p>
            <a:pPr>
              <a:buChar char="▸"/>
              <a:buFont typeface="Arial"/>
              <a:spcBef>
                <a:spcPts val="160"/>
              </a:spcBef>
            </a:pPr>
            <a:r>
              <a:rPr sz="2000">
                <a:solidFill>
                  <a:srgbClr val="1A1A2E"/>
                </a:solidFill>
                <a:latin typeface="Calibri"/>
              </a:rPr>
              <a:t>Affinity only routes traffic; it never restores memory after pod replacement</a:t>
            </a:r>
          </a:p>
          <a:p>
            <a:pPr>
              <a:buChar char="▸"/>
              <a:buFont typeface="Arial"/>
              <a:spcBef>
                <a:spcPts val="160"/>
              </a:spcBef>
            </a:pPr>
            <a:r>
              <a:rPr sz="2000">
                <a:solidFill>
                  <a:srgbClr val="1A1A2E"/>
                </a:solidFill>
                <a:latin typeface="Calibri"/>
              </a:rPr>
              <a:t>Kubernetes ClientIP affinity groups by source IP, not by business session_id</a:t>
            </a:r>
          </a:p>
          <a:p>
            <a:pPr>
              <a:buChar char="▸"/>
              <a:buFont typeface="Arial"/>
              <a:spcBef>
                <a:spcPts val="160"/>
              </a:spcBef>
            </a:pPr>
            <a:r>
              <a:rPr sz="2000">
                <a:solidFill>
                  <a:srgbClr val="1A1A2E"/>
                </a:solidFill>
                <a:latin typeface="Calibri"/>
              </a:rPr>
              <a:t>Either accept lost memory on restart, or keep BFF snapshot persistence</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3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Memory Loss on Restart or Failure</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4</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In-memory requirement memory trades simplicity for losing guarantees after restart</a:t>
            </a:r>
          </a:p>
          <a:p>
            <a:pPr>
              <a:buChar char="▸"/>
              <a:buFont typeface="Arial"/>
              <a:spcBef>
                <a:spcPts val="160"/>
              </a:spcBef>
            </a:pPr>
            <a:r>
              <a:rPr sz="2000">
                <a:solidFill>
                  <a:srgbClr val="1A1A2E"/>
                </a:solidFill>
                <a:latin typeface="Calibri"/>
              </a:rPr>
              <a:t>Route by session ID, not user; Kubernetes ClientIP affinity is unsuitable</a:t>
            </a:r>
          </a:p>
          <a:p>
            <a:pPr>
              <a:buChar char="▸"/>
              <a:buFont typeface="Arial"/>
              <a:spcBef>
                <a:spcPts val="160"/>
              </a:spcBef>
            </a:pPr>
            <a:r>
              <a:rPr sz="2000">
                <a:solidFill>
                  <a:srgbClr val="1A1A2E"/>
                </a:solidFill>
                <a:latin typeface="Calibri"/>
              </a:rPr>
              <a:t>Keep one ASGI process per Pod; multiple Python workers do not share memory</a:t>
            </a:r>
          </a:p>
          <a:p>
            <a:pPr>
              <a:buChar char="▸"/>
              <a:buFont typeface="Arial"/>
              <a:spcBef>
                <a:spcPts val="160"/>
              </a:spcBef>
            </a:pPr>
            <a:r>
              <a:rPr sz="2000">
                <a:solidFill>
                  <a:srgbClr val="1A1A2E"/>
                </a:solidFill>
                <a:latin typeface="Calibri"/>
              </a:rPr>
              <a:t>Affinity only routes requests; it cannot restore memory after Pod replacement</a:t>
            </a:r>
          </a:p>
          <a:p>
            <a:pPr>
              <a:buChar char="▸"/>
              <a:buFont typeface="Arial"/>
              <a:spcBef>
                <a:spcPts val="160"/>
              </a:spcBef>
            </a:pPr>
            <a:r>
              <a:rPr sz="2000">
                <a:solidFill>
                  <a:srgbClr val="1A1A2E"/>
                </a:solidFill>
                <a:latin typeface="Calibri"/>
              </a:rPr>
              <a:t>Bind memory to full identity, with 4-hour idle cleanup and size caps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4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Kubernetes ClientIP Affinity Limitation</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5</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ClientIP 亲和按来源 IP 路由，而不是按业务 session_id</a:t>
            </a:r>
          </a:p>
          <a:p>
            <a:pPr>
              <a:buChar char="▸"/>
              <a:buFont typeface="Arial"/>
              <a:spcBef>
                <a:spcPts val="160"/>
              </a:spcBef>
            </a:pPr>
            <a:r>
              <a:rPr sz="2000">
                <a:solidFill>
                  <a:srgbClr val="1A1A2E"/>
                </a:solidFill>
                <a:latin typeface="Calibri"/>
              </a:rPr>
              <a:t>BFF 转发架构下可能把大量用户集中到同一个 Pod</a:t>
            </a:r>
          </a:p>
          <a:p>
            <a:pPr>
              <a:buChar char="▸"/>
              <a:buFont typeface="Arial"/>
              <a:spcBef>
                <a:spcPts val="160"/>
              </a:spcBef>
            </a:pPr>
            <a:r>
              <a:rPr sz="2000">
                <a:solidFill>
                  <a:srgbClr val="1A1A2E"/>
                </a:solidFill>
                <a:latin typeface="Calibri"/>
              </a:rPr>
              <a:t>不能把 ClientIP 亲和直接当作业务会话保持方案</a:t>
            </a:r>
          </a:p>
          <a:p>
            <a:pPr>
              <a:buChar char="▸"/>
              <a:buFont typeface="Arial"/>
              <a:spcBef>
                <a:spcPts val="160"/>
              </a:spcBef>
            </a:pPr>
            <a:r>
              <a:rPr sz="2000">
                <a:solidFill>
                  <a:srgbClr val="1A1A2E"/>
                </a:solidFill>
                <a:latin typeface="Calibri"/>
              </a:rPr>
              <a:t>建议按会话标识路由，并沿用一 Pod 一 ASGI 进程配置</a:t>
            </a:r>
          </a:p>
          <a:p>
            <a:pPr>
              <a:buChar char="▸"/>
              <a:buFont typeface="Arial"/>
              <a:spcBef>
                <a:spcPts val="160"/>
              </a:spcBef>
            </a:pPr>
            <a:r>
              <a:rPr sz="2000">
                <a:solidFill>
                  <a:srgbClr val="1A1A2E"/>
                </a:solidFill>
                <a:latin typeface="Calibri"/>
              </a:rPr>
              <a:t>会话亲和只管路由，Pod 重启后需求记忆无法凭亲和恢复</a:t>
            </a:r>
          </a:p>
          <a:p>
            <a:pPr>
              <a:buChar char="▸"/>
              <a:buFont typeface="Arial"/>
              <a:spcBef>
                <a:spcPts val="160"/>
              </a:spcBef>
            </a:pPr>
            <a:r>
              <a:rPr sz="2000">
                <a:solidFill>
                  <a:srgbClr val="1A1A2E"/>
                </a:solidFill>
                <a:latin typeface="Calibri"/>
              </a:rPr>
              <a:t>内存需求需设 4 小时空闲清理与容量上限，失效时明确提示</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5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State Storage Responsibility Split</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6</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会话亲和下需求记忆可放 GenSlide 内存，BFF 不再保存需求快照</a:t>
            </a:r>
          </a:p>
          <a:p>
            <a:pPr>
              <a:buChar char="▸"/>
              <a:buFont typeface="Arial"/>
              <a:spcBef>
                <a:spcPts val="160"/>
              </a:spcBef>
            </a:pPr>
            <a:r>
              <a:rPr sz="2000">
                <a:solidFill>
                  <a:srgbClr val="1A1A2E"/>
                </a:solidFill>
                <a:latin typeface="Calibri"/>
              </a:rPr>
              <a:t>前提：按 session_id 路由，且同 Pod 内进入同一进程</a:t>
            </a:r>
          </a:p>
          <a:p>
            <a:pPr>
              <a:buChar char="▸"/>
              <a:buFont typeface="Arial"/>
              <a:spcBef>
                <a:spcPts val="160"/>
              </a:spcBef>
            </a:pPr>
            <a:r>
              <a:rPr sz="2000">
                <a:solidFill>
                  <a:srgbClr val="1A1A2E"/>
                </a:solidFill>
                <a:latin typeface="Calibri"/>
              </a:rPr>
              <a:t>需接受重启、故障或路由变化后忘记需求</a:t>
            </a:r>
          </a:p>
          <a:p>
            <a:pPr>
              <a:buChar char="▸"/>
              <a:buFont typeface="Arial"/>
              <a:spcBef>
                <a:spcPts val="160"/>
              </a:spcBef>
            </a:pPr>
            <a:r>
              <a:rPr sz="2000">
                <a:solidFill>
                  <a:srgbClr val="1A1A2E"/>
                </a:solidFill>
                <a:latin typeface="Calibri"/>
              </a:rPr>
              <a:t>执行授权、会话版本、幂等、交接回执、文件与下载记录仍由 BFF 管理</a:t>
            </a:r>
          </a:p>
          <a:p>
            <a:pPr>
              <a:buChar char="▸"/>
              <a:buFont typeface="Arial"/>
              <a:spcBef>
                <a:spcPts val="160"/>
              </a:spcBef>
            </a:pPr>
            <a:r>
              <a:rPr sz="2000">
                <a:solidFill>
                  <a:srgbClr val="1A1A2E"/>
                </a:solidFill>
                <a:latin typeface="Calibri"/>
              </a:rPr>
              <a:t>内存记忆绑定完整身份，设 4 小时空闲清理、单会话与总容量上限</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6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Memory Governance Limits and Identity</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7</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affinity must route by session_id, not just by user</a:t>
            </a:r>
          </a:p>
          <a:p>
            <a:pPr>
              <a:buChar char="▸"/>
              <a:buFont typeface="Arial"/>
              <a:spcBef>
                <a:spcPts val="160"/>
              </a:spcBef>
            </a:pPr>
            <a:r>
              <a:rPr sz="2000">
                <a:solidFill>
                  <a:srgbClr val="1A1A2E"/>
                </a:solidFill>
                <a:latin typeface="Calibri"/>
              </a:rPr>
              <a:t>Keep one ASGI process per pod; Python workers do not share memory</a:t>
            </a:r>
          </a:p>
          <a:p>
            <a:pPr>
              <a:buChar char="▸"/>
              <a:buFont typeface="Arial"/>
              <a:spcBef>
                <a:spcPts val="160"/>
              </a:spcBef>
            </a:pPr>
            <a:r>
              <a:rPr sz="2000">
                <a:solidFill>
                  <a:srgbClr val="1A1A2E"/>
                </a:solidFill>
                <a:latin typeface="Calibri"/>
              </a:rPr>
              <a:t>Restarts, failures, or routing changes erase in-memory requirement memory</a:t>
            </a:r>
          </a:p>
          <a:p>
            <a:pPr>
              <a:buChar char="▸"/>
              <a:buFont typeface="Arial"/>
              <a:spcBef>
                <a:spcPts val="160"/>
              </a:spcBef>
            </a:pPr>
            <a:r>
              <a:rPr sz="2000">
                <a:solidFill>
                  <a:srgbClr val="1A1A2E"/>
                </a:solidFill>
                <a:latin typeface="Calibri"/>
              </a:rPr>
              <a:t>Kubernetes ClientIP affinity follows source IP, not business session_id</a:t>
            </a:r>
          </a:p>
          <a:p>
            <a:pPr>
              <a:buChar char="▸"/>
              <a:buFont typeface="Arial"/>
              <a:spcBef>
                <a:spcPts val="160"/>
              </a:spcBef>
            </a:pPr>
            <a:r>
              <a:rPr sz="2000">
                <a:solidFill>
                  <a:srgbClr val="1A1A2E"/>
                </a:solidFill>
                <a:latin typeface="Calibri"/>
              </a:rPr>
              <a:t>Bind memory to full identity with 4-hour idle cleanup and size caps</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F"/>
        </a:solidFill>
        <a:effectLst/>
      </p:bgPr>
    </p:bg>
    <p:spTree>
      <p:nvGrpSpPr>
        <p:cNvPr id="1" name=""/>
        <p:cNvGrpSpPr/>
        <p:nvPr/>
      </p:nvGrpSpPr>
      <p:grpSpPr/>
      <p:sp>
        <p:nvSpPr>
          <p:cNvPr id="2" name="Rectangle 1"/>
          <p:cNvSpPr/>
          <p:nvPr/>
        </p:nvSpPr>
        <p:spPr>
          <a:xfrm>
            <a:off x="0" y="0"/>
            <a:ext cx="109728"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56032"/>
            <a:ext cx="8321040" cy="658368"/>
          </a:xfrm>
          <a:prstGeom prst="rect">
            <a:avLst/>
          </a:prstGeom>
          <a:noFill/>
        </p:spPr>
        <p:txBody>
          <a:bodyPr wrap="square"/>
          <a:lstStyle/>
          <a:p>
            <a:pPr algn="l"/>
            <a:r>
              <a:rPr sz="2800" b="1">
                <a:solidFill>
                  <a:srgbClr val="FFFFFF"/>
                </a:solidFill>
                <a:latin typeface="Calibri"/>
              </a:rPr>
              <a:t>Recommendation and Commitment Changes</a:t>
            </a:r>
          </a:p>
        </p:txBody>
      </p:sp>
      <p:sp>
        <p:nvSpPr>
          <p:cNvPr id="5" name="TextBox 4"/>
          <p:cNvSpPr txBox="1"/>
          <p:nvPr/>
        </p:nvSpPr>
        <p:spPr>
          <a:xfrm>
            <a:off x="8503920" y="182880"/>
            <a:ext cx="457200" cy="548640"/>
          </a:xfrm>
          <a:prstGeom prst="rect">
            <a:avLst/>
          </a:prstGeom>
          <a:noFill/>
        </p:spPr>
        <p:txBody>
          <a:bodyPr wrap="square"/>
          <a:lstStyle/>
          <a:p>
            <a:pPr algn="ctr"/>
            <a:r>
              <a:rPr sz="2200" b="1">
                <a:solidFill>
                  <a:srgbClr val="CADCFC"/>
                </a:solidFill>
                <a:latin typeface="Calibri"/>
              </a:rPr>
              <a:t>8</a:t>
            </a:r>
          </a:p>
        </p:txBody>
      </p:sp>
      <p:sp>
        <p:nvSpPr>
          <p:cNvPr id="6" name="TextBox 5"/>
          <p:cNvSpPr txBox="1"/>
          <p:nvPr/>
        </p:nvSpPr>
        <p:spPr>
          <a:xfrm>
            <a:off x="594360" y="1051560"/>
            <a:ext cx="8321040" cy="3611880"/>
          </a:xfrm>
          <a:prstGeom prst="rect">
            <a:avLst/>
          </a:prstGeom>
          <a:noFill/>
        </p:spPr>
        <p:txBody>
          <a:bodyPr wrap="square">
            <a:spAutoFit/>
          </a:bodyPr>
          <a:lstStyle/>
          <a:p>
            <a:pPr>
              <a:buChar char="▸"/>
              <a:buFont typeface="Arial"/>
              <a:spcBef>
                <a:spcPts val="160"/>
              </a:spcBef>
            </a:pPr>
            <a:r>
              <a:rPr sz="2000">
                <a:solidFill>
                  <a:srgbClr val="1A1A2E"/>
                </a:solidFill>
                <a:latin typeface="Calibri"/>
              </a:rPr>
              <a:t>Session affinity alone can support in-memory requirement memory for GenSlide</a:t>
            </a:r>
          </a:p>
          <a:p>
            <a:pPr>
              <a:buChar char="▸"/>
              <a:buFont typeface="Arial"/>
              <a:spcBef>
                <a:spcPts val="160"/>
              </a:spcBef>
            </a:pPr>
            <a:r>
              <a:rPr sz="2000">
                <a:solidFill>
                  <a:srgbClr val="1A1A2E"/>
                </a:solidFill>
                <a:latin typeface="Calibri"/>
              </a:rPr>
              <a:t>Route by session ID, not just user; keep one ASGI process per Pod</a:t>
            </a:r>
          </a:p>
          <a:p>
            <a:pPr>
              <a:buChar char="▸"/>
              <a:buFont typeface="Arial"/>
              <a:spcBef>
                <a:spcPts val="160"/>
              </a:spcBef>
            </a:pPr>
            <a:r>
              <a:rPr sz="2000">
                <a:solidFill>
                  <a:srgbClr val="1A1A2E"/>
                </a:solidFill>
                <a:latin typeface="Calibri"/>
              </a:rPr>
              <a:t>Restarts, failures, or route changes will lose requirement memory</a:t>
            </a:r>
          </a:p>
          <a:p>
            <a:pPr>
              <a:buChar char="▸"/>
              <a:buFont typeface="Arial"/>
              <a:spcBef>
                <a:spcPts val="160"/>
              </a:spcBef>
            </a:pPr>
            <a:r>
              <a:rPr sz="2000">
                <a:solidFill>
                  <a:srgbClr val="1A1A2E"/>
                </a:solidFill>
                <a:latin typeface="Calibri"/>
              </a:rPr>
              <a:t>BFF still owns authorization, session version, idempotency, handoff receipts, generated files</a:t>
            </a:r>
          </a:p>
          <a:p>
            <a:pPr>
              <a:buChar char="▸"/>
              <a:buFont typeface="Arial"/>
              <a:spcBef>
                <a:spcPts val="160"/>
              </a:spcBef>
            </a:pPr>
            <a:r>
              <a:rPr sz="2000">
                <a:solidFill>
                  <a:srgbClr val="1A1A2E"/>
                </a:solidFill>
                <a:latin typeface="Calibri"/>
              </a:rPr>
              <a:t>Remove earlier commitments: no sticky routing, no memory recovery after restart</a:t>
            </a:r>
          </a:p>
        </p:txBody>
      </p:sp>
      <p:sp>
        <p:nvSpPr>
          <p:cNvPr id="7" name="Rectangle 6"/>
          <p:cNvSpPr/>
          <p:nvPr/>
        </p:nvSpPr>
        <p:spPr>
          <a:xfrm>
            <a:off x="0" y="4709160"/>
            <a:ext cx="914400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709160"/>
            <a:ext cx="5486400" cy="320040"/>
          </a:xfrm>
          <a:prstGeom prst="rect">
            <a:avLst/>
          </a:prstGeom>
          <a:noFill/>
        </p:spPr>
        <p:txBody>
          <a:bodyPr wrap="square"/>
          <a:lstStyle/>
          <a:p>
            <a:pPr algn="l"/>
            <a:r>
              <a:rPr sz="900" b="0">
                <a:solidFill>
                  <a:srgbClr val="CADCFC"/>
                </a:solidFill>
                <a:latin typeface="Calibri"/>
              </a:rPr>
              <a:t>In-Memory Session Memory Tradeoff</a:t>
            </a:r>
          </a:p>
        </p:txBody>
      </p:sp>
      <p:sp>
        <p:nvSpPr>
          <p:cNvPr id="9" name="TextBox 8"/>
          <p:cNvSpPr txBox="1"/>
          <p:nvPr/>
        </p:nvSpPr>
        <p:spPr>
          <a:xfrm>
            <a:off x="7772400" y="4709160"/>
            <a:ext cx="1188720" cy="320040"/>
          </a:xfrm>
          <a:prstGeom prst="rect">
            <a:avLst/>
          </a:prstGeom>
          <a:noFill/>
        </p:spPr>
        <p:txBody>
          <a:bodyPr wrap="square"/>
          <a:lstStyle/>
          <a:p>
            <a:pPr algn="r"/>
            <a:r>
              <a:rPr sz="900" b="0">
                <a:solidFill>
                  <a:srgbClr val="CADCFC"/>
                </a:solidFill>
                <a:latin typeface="Calibri"/>
              </a:rPr>
              <a:t>8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01168" cy="51435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046720" cy="1097280"/>
          </a:xfrm>
          <a:prstGeom prst="rect">
            <a:avLst/>
          </a:prstGeom>
          <a:noFill/>
        </p:spPr>
        <p:txBody>
          <a:bodyPr wrap="square"/>
          <a:lstStyle/>
          <a:p>
            <a:pPr algn="l"/>
            <a:r>
              <a:rPr sz="4400" b="1">
                <a:solidFill>
                  <a:srgbClr val="FFFFFF"/>
                </a:solidFill>
                <a:latin typeface="Calibri"/>
              </a:rPr>
              <a:t>Thank you</a:t>
            </a:r>
          </a:p>
        </p:txBody>
      </p:sp>
      <p:sp>
        <p:nvSpPr>
          <p:cNvPr id="4" name="Rectangle 3"/>
          <p:cNvSpPr/>
          <p:nvPr/>
        </p:nvSpPr>
        <p:spPr>
          <a:xfrm>
            <a:off x="502920" y="2834640"/>
            <a:ext cx="2286000" cy="254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017520"/>
            <a:ext cx="8046720" cy="640080"/>
          </a:xfrm>
          <a:prstGeom prst="rect">
            <a:avLst/>
          </a:prstGeom>
          <a:noFill/>
        </p:spPr>
        <p:txBody>
          <a:bodyPr wrap="square"/>
          <a:lstStyle/>
          <a:p>
            <a:pPr algn="l"/>
            <a:r>
              <a:rPr sz="1800" b="0">
                <a:solidFill>
                  <a:srgbClr val="CADCFC"/>
                </a:solidFill>
                <a:latin typeface="Calibri"/>
              </a:rPr>
              <a:t>In-Memory Session Memory Tradeoff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