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把需求记忆放进 GenSlide 进程内存，前提是同一会话的请求始终落到同一个 Pod 和同一个 ASGI 进程，因此路由要按业务会话标识而不是只按用户或来源 IP。需要特别说明的是，Kubernetes Service 的 ClientIP 亲和按来源 IP 工作，在 BFF 转发架构下会把许多用户挤到同一个 Pod，不能当作会话保持方案。这样做的代价是 Pod 被替换或重启后需求记忆无法恢复，此时应明确提示用户上下文已失效、请重新确认，而不能假装还记得。执行授权、幂等、版本与已生成文件仍由 BFF 负责，如果要求发布或故障切换后记忆不中断，就必须保留 BFF 快照方案。</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trade-off is straightforward: storing requirement memory in process memory means we explicitly accept that it can be lost. Session affinity only governs routing, so it cannot restore anything once a pod is replaced or a request is rerouted. Be careful with Kubernetes' built-in ClientIP affinity, because in our BFF forwarding setup it groups users by source IP rather than by business session, which is not what we need. We should also apply idle cleanup, per-session and total size caps, and tell users plainly when their requirement context has expired rather than pretending we still remember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会话保持解决的是请求落到哪里，并不能承担状态保存的职责，所以内存方案本质上是用允许记忆丢失换取架构简化。落地时要按业务 session_id 做路由，而不是依赖 Service 的 ClientIP 亲和，否则 BFF 转发会把大量用户挤到同一个 Pod；同时保持一 Pod 一个 ASGI 进程，避免多 Worker 内存隔离。一旦 Pod 被替换，需求记忆就不可恢复，系统必须明确提示上下文失效、请用户重新确认，而不能假装记得。执行授权、会话版本、幂等与已生成文件仍由 BFF 保存，丢失的只是需求记忆。</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如果一期能接受正常使用时连续对话、而服务重启后需要重新确认需求，那么把需求记忆直接放进 GenSlide 进程内存是可行的。但要注意 Kubernetes Service 的 ClientIP 亲和是按来源 IP 生效，而不是业务 session_id，在 BFF 转发架构下可能把大量用户集中到同一个 Pod，因此不能直接当作业务会话保持方案。内存记录需要绑定完整身份与运行时标识，并设置 4 小时空闲清理以及单会话和总容量上限，业务提交前只修改候选副本。一旦记录丢失，必须明确提示当前需求上下文已失效，同时把原计划中“不需要粘性路由、重启后恢复需求”的承诺一并移除。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需要特别强调的是，Kubernetes 提供的会话亲和基于来源 IP，而不是我们业务的 session_id，因此在 BFF 转发场景下它并不能真正实现按会话的粘性路由，反而可能把大量用户压到同一个 Pod 上。如果采用进程内存保存需求记忆，就必须接受 Pod 重建、发布或故障切换后上下文失效，界面上要明确提示用户重新确认需求，而不能假装还记得。已生成的文件、执行授权、幂等与版本控制仍由 BFF 负责，这部分不受影响。</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we accept that requirement memory lives in the GenSlide process, we simplify the architecture — but only under strict conditions. Note that Kubernetes ClientIP affinity routes by source IP, not by business session_id, so behind the BFF it can pile many users onto one pod and is not a valid session-keeping mechanism. Memory records should be bound to full identity and runtime identifiers, with a four-hour idle cleanup, per-session and total size caps, and commits applied only after BFF confirms the result. Crucially, losing memory means the requirement context is invalidated and the user must re-confirm — we must never pretend to remember; files already handed to the BFF are unaffected. The choice is a一期 trade-off: continuous conversation in normal operation with re-confirmation after restarts, or keep the BFF snapshot for memory that survives releases and failover — and if we choose memory, we must also drop the earlier promises of no sticky routing and post-restart requirement recovery.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把需求记忆放进 GenSlide 内存，本质是用允许丢失来换取架构简化，因此得不到 BFF 持久化那样的保证。会话亲和只解决路由问题，Pod 被替换后内存里的需求无法凭亲和恢复，而 Service 的 ClientIP 亲和按来源 IP 分流，在转发架构下可能把大量用户挤到同一 Pod。内存记录必须绑定完整身份和运行时标识，并配合空闲清理与容量上限；一旦失效就要如实提示用户重新确认，同时移除原先关于重启后恢复需求的承诺。</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trade-off here is simplicity versus durability. If we pin each session's traffic to a specific GenSlide process, requirements can live in memory, but any restart, crash, or reroute wipes that context. Kubernetes' built-in ClientIP affinity routes by source address rather than business session, so it cannot serve as our session stickiness mechanism. The recommendation is to adopt the in-memory approach for phase one only if we accept that users may need to re-confirm requirements after restarts, and we must also remove the earlier commitments about sticky routing and post-restart recovery.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201168" cy="514350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0"/>
            <a:ext cx="8046720" cy="1280160"/>
          </a:xfrm>
          <a:prstGeom prst="rect">
            <a:avLst/>
          </a:prstGeom>
          <a:noFill/>
        </p:spPr>
        <p:txBody>
          <a:bodyPr wrap="square"/>
          <a:lstStyle/>
          <a:p>
            <a:pPr algn="l"/>
            <a:r>
              <a:rPr sz="4400" b="1">
                <a:solidFill>
                  <a:srgbClr val="FFFFFF"/>
                </a:solidFill>
                <a:latin typeface="Calibri"/>
              </a:rPr>
              <a:t>In-Memory Session Memory Tradeoff</a:t>
            </a:r>
          </a:p>
        </p:txBody>
      </p:sp>
      <p:sp>
        <p:nvSpPr>
          <p:cNvPr id="4" name="Rectangle 3"/>
          <p:cNvSpPr/>
          <p:nvPr/>
        </p:nvSpPr>
        <p:spPr>
          <a:xfrm>
            <a:off x="502920" y="2880360"/>
            <a:ext cx="3200400" cy="2540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3063240"/>
            <a:ext cx="8046720" cy="731520"/>
          </a:xfrm>
          <a:prstGeom prst="rect">
            <a:avLst/>
          </a:prstGeom>
          <a:noFill/>
        </p:spPr>
        <p:txBody>
          <a:bodyPr wrap="square"/>
          <a:lstStyle/>
          <a:p>
            <a:pPr algn="l"/>
            <a:r>
              <a:rPr sz="1800" b="0">
                <a:solidFill>
                  <a:srgbClr val="CADCFC"/>
                </a:solidFill>
                <a:latin typeface="Calibri"/>
              </a:rPr>
              <a:t>Generated by GenSlide · AI-powered presentation builder</a:t>
            </a:r>
          </a:p>
        </p:txBody>
      </p:sp>
      <p:sp>
        <p:nvSpPr>
          <p:cNvPr id="6" name="TextBox 5"/>
          <p:cNvSpPr txBox="1"/>
          <p:nvPr/>
        </p:nvSpPr>
        <p:spPr>
          <a:xfrm>
            <a:off x="6858000" y="4663440"/>
            <a:ext cx="2103120" cy="365760"/>
          </a:xfrm>
          <a:prstGeom prst="rect">
            <a:avLst/>
          </a:prstGeom>
          <a:noFill/>
        </p:spPr>
        <p:txBody>
          <a:bodyPr wrap="square"/>
          <a:lstStyle/>
          <a:p>
            <a:pPr algn="r"/>
            <a:r>
              <a:rPr sz="1000" b="0">
                <a:solidFill>
                  <a:srgbClr val="CADCFC"/>
                </a:solidFill>
                <a:latin typeface="Calibri"/>
              </a:rPr>
              <a:t>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F"/>
        </a:solidFill>
        <a:effectLst/>
      </p:bgPr>
    </p:bg>
    <p:spTree>
      <p:nvGrpSpPr>
        <p:cNvPr id="1" name=""/>
        <p:cNvGrpSpPr/>
        <p:nvPr/>
      </p:nvGrpSpPr>
      <p:grpSpPr/>
      <p:sp>
        <p:nvSpPr>
          <p:cNvPr id="2" name="Rectangle 1"/>
          <p:cNvSpPr/>
          <p:nvPr/>
        </p:nvSpPr>
        <p:spPr>
          <a:xfrm>
            <a:off x="0" y="0"/>
            <a:ext cx="109728" cy="51435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56032"/>
            <a:ext cx="8321040" cy="658368"/>
          </a:xfrm>
          <a:prstGeom prst="rect">
            <a:avLst/>
          </a:prstGeom>
          <a:noFill/>
        </p:spPr>
        <p:txBody>
          <a:bodyPr wrap="square"/>
          <a:lstStyle/>
          <a:p>
            <a:pPr algn="l"/>
            <a:r>
              <a:rPr sz="2800" b="1">
                <a:solidFill>
                  <a:srgbClr val="FFFFFF"/>
                </a:solidFill>
                <a:latin typeface="Calibri"/>
              </a:rPr>
              <a:t>In-Memory Session Memory Tradeoff</a:t>
            </a:r>
          </a:p>
        </p:txBody>
      </p:sp>
      <p:sp>
        <p:nvSpPr>
          <p:cNvPr id="5" name="TextBox 4"/>
          <p:cNvSpPr txBox="1"/>
          <p:nvPr/>
        </p:nvSpPr>
        <p:spPr>
          <a:xfrm>
            <a:off x="8503920" y="182880"/>
            <a:ext cx="457200" cy="548640"/>
          </a:xfrm>
          <a:prstGeom prst="rect">
            <a:avLst/>
          </a:prstGeom>
          <a:noFill/>
        </p:spPr>
        <p:txBody>
          <a:bodyPr wrap="square"/>
          <a:lstStyle/>
          <a:p>
            <a:pPr algn="ctr"/>
            <a:r>
              <a:rPr sz="2200" b="1">
                <a:solidFill>
                  <a:srgbClr val="CADCFC"/>
                </a:solidFill>
                <a:latin typeface="Calibri"/>
              </a:rPr>
              <a:t>1</a:t>
            </a:r>
          </a:p>
        </p:txBody>
      </p:sp>
      <p:sp>
        <p:nvSpPr>
          <p:cNvPr id="6" name="TextBox 5"/>
          <p:cNvSpPr txBox="1"/>
          <p:nvPr/>
        </p:nvSpPr>
        <p:spPr>
          <a:xfrm>
            <a:off x="594360" y="1051560"/>
            <a:ext cx="8321040" cy="3611880"/>
          </a:xfrm>
          <a:prstGeom prst="rect">
            <a:avLst/>
          </a:prstGeom>
          <a:noFill/>
        </p:spPr>
        <p:txBody>
          <a:bodyPr wrap="square">
            <a:spAutoFit/>
          </a:bodyPr>
          <a:lstStyle/>
          <a:p>
            <a:pPr>
              <a:buChar char="▸"/>
              <a:buFont typeface="Arial"/>
              <a:spcBef>
                <a:spcPts val="160"/>
              </a:spcBef>
            </a:pPr>
            <a:r>
              <a:rPr sz="2000">
                <a:solidFill>
                  <a:srgbClr val="1A1A2E"/>
                </a:solidFill>
                <a:latin typeface="Calibri"/>
              </a:rPr>
              <a:t>会话请求持续落到同一 GenSlide 实例时，需求记忆可放进程内存</a:t>
            </a:r>
          </a:p>
          <a:p>
            <a:pPr>
              <a:buChar char="▸"/>
              <a:buFont typeface="Arial"/>
              <a:spcBef>
                <a:spcPts val="160"/>
              </a:spcBef>
            </a:pPr>
            <a:r>
              <a:rPr sz="2000">
                <a:solidFill>
                  <a:srgbClr val="1A1A2E"/>
                </a:solidFill>
                <a:latin typeface="Calibri"/>
              </a:rPr>
              <a:t>必须按会话标识路由；Kubernetes ClientIP 亲和按来源 IP，不可直接使用</a:t>
            </a:r>
          </a:p>
          <a:p>
            <a:pPr>
              <a:buChar char="▸"/>
              <a:buFont typeface="Arial"/>
              <a:spcBef>
                <a:spcPts val="160"/>
              </a:spcBef>
            </a:pPr>
            <a:r>
              <a:rPr sz="2000">
                <a:solidFill>
                  <a:srgbClr val="1A1A2E"/>
                </a:solidFill>
                <a:latin typeface="Calibri"/>
              </a:rPr>
              <a:t>代价是接受重启、故障或路由变化后遗忘需求</a:t>
            </a:r>
          </a:p>
          <a:p>
            <a:pPr>
              <a:buChar char="▸"/>
              <a:buFont typeface="Arial"/>
              <a:spcBef>
                <a:spcPts val="160"/>
              </a:spcBef>
            </a:pPr>
            <a:r>
              <a:rPr sz="2000">
                <a:solidFill>
                  <a:srgbClr val="1A1A2E"/>
                </a:solidFill>
                <a:latin typeface="Calibri"/>
              </a:rPr>
              <a:t>授权、会话版本、幂等与交接回执仍由 BFF 管理</a:t>
            </a:r>
          </a:p>
          <a:p>
            <a:pPr>
              <a:buChar char="▸"/>
              <a:buFont typeface="Arial"/>
              <a:spcBef>
                <a:spcPts val="160"/>
              </a:spcBef>
            </a:pPr>
            <a:r>
              <a:rPr sz="2000">
                <a:solidFill>
                  <a:srgbClr val="1A1A2E"/>
                </a:solidFill>
                <a:latin typeface="Calibri"/>
              </a:rPr>
              <a:t>内存记忆设 4 小时空闲清理与容量上限，丢失时提示重新确认</a:t>
            </a:r>
          </a:p>
        </p:txBody>
      </p:sp>
      <p:sp>
        <p:nvSpPr>
          <p:cNvPr id="7" name="Rectangle 6"/>
          <p:cNvSpPr/>
          <p:nvPr/>
        </p:nvSpPr>
        <p:spPr>
          <a:xfrm>
            <a:off x="0" y="4709160"/>
            <a:ext cx="9144000" cy="3200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4709160"/>
            <a:ext cx="5486400" cy="320040"/>
          </a:xfrm>
          <a:prstGeom prst="rect">
            <a:avLst/>
          </a:prstGeom>
          <a:noFill/>
        </p:spPr>
        <p:txBody>
          <a:bodyPr wrap="square"/>
          <a:lstStyle/>
          <a:p>
            <a:pPr algn="l"/>
            <a:r>
              <a:rPr sz="900" b="0">
                <a:solidFill>
                  <a:srgbClr val="CADCFC"/>
                </a:solidFill>
                <a:latin typeface="Calibri"/>
              </a:rPr>
              <a:t>In-Memory Session Memory Tradeoff</a:t>
            </a:r>
          </a:p>
        </p:txBody>
      </p:sp>
      <p:sp>
        <p:nvSpPr>
          <p:cNvPr id="9" name="TextBox 8"/>
          <p:cNvSpPr txBox="1"/>
          <p:nvPr/>
        </p:nvSpPr>
        <p:spPr>
          <a:xfrm>
            <a:off x="7772400" y="4709160"/>
            <a:ext cx="1188720" cy="320040"/>
          </a:xfrm>
          <a:prstGeom prst="rect">
            <a:avLst/>
          </a:prstGeom>
          <a:noFill/>
        </p:spPr>
        <p:txBody>
          <a:bodyPr wrap="square"/>
          <a:lstStyle/>
          <a:p>
            <a:pPr algn="r"/>
            <a:r>
              <a:rPr sz="900" b="0">
                <a:solidFill>
                  <a:srgbClr val="CADCFC"/>
                </a:solidFill>
                <a:latin typeface="Calibri"/>
              </a:rPr>
              <a:t>1 / 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F"/>
        </a:solidFill>
        <a:effectLst/>
      </p:bgPr>
    </p:bg>
    <p:spTree>
      <p:nvGrpSpPr>
        <p:cNvPr id="1" name=""/>
        <p:cNvGrpSpPr/>
        <p:nvPr/>
      </p:nvGrpSpPr>
      <p:grpSpPr/>
      <p:sp>
        <p:nvSpPr>
          <p:cNvPr id="2" name="Rectangle 1"/>
          <p:cNvSpPr/>
          <p:nvPr/>
        </p:nvSpPr>
        <p:spPr>
          <a:xfrm>
            <a:off x="0" y="0"/>
            <a:ext cx="109728" cy="51435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56032"/>
            <a:ext cx="8321040" cy="658368"/>
          </a:xfrm>
          <a:prstGeom prst="rect">
            <a:avLst/>
          </a:prstGeom>
          <a:noFill/>
        </p:spPr>
        <p:txBody>
          <a:bodyPr wrap="square"/>
          <a:lstStyle/>
          <a:p>
            <a:pPr algn="l"/>
            <a:r>
              <a:rPr sz="2800" b="1">
                <a:solidFill>
                  <a:srgbClr val="FFFFFF"/>
                </a:solidFill>
                <a:latin typeface="Calibri"/>
              </a:rPr>
              <a:t>Session Affinity Routing Requirements</a:t>
            </a:r>
          </a:p>
        </p:txBody>
      </p:sp>
      <p:sp>
        <p:nvSpPr>
          <p:cNvPr id="5" name="TextBox 4"/>
          <p:cNvSpPr txBox="1"/>
          <p:nvPr/>
        </p:nvSpPr>
        <p:spPr>
          <a:xfrm>
            <a:off x="8503920" y="182880"/>
            <a:ext cx="457200" cy="548640"/>
          </a:xfrm>
          <a:prstGeom prst="rect">
            <a:avLst/>
          </a:prstGeom>
          <a:noFill/>
        </p:spPr>
        <p:txBody>
          <a:bodyPr wrap="square"/>
          <a:lstStyle/>
          <a:p>
            <a:pPr algn="ctr"/>
            <a:r>
              <a:rPr sz="2200" b="1">
                <a:solidFill>
                  <a:srgbClr val="CADCFC"/>
                </a:solidFill>
                <a:latin typeface="Calibri"/>
              </a:rPr>
              <a:t>2</a:t>
            </a:r>
          </a:p>
        </p:txBody>
      </p:sp>
      <p:sp>
        <p:nvSpPr>
          <p:cNvPr id="6" name="TextBox 5"/>
          <p:cNvSpPr txBox="1"/>
          <p:nvPr/>
        </p:nvSpPr>
        <p:spPr>
          <a:xfrm>
            <a:off x="594360" y="1051560"/>
            <a:ext cx="8321040" cy="3611880"/>
          </a:xfrm>
          <a:prstGeom prst="rect">
            <a:avLst/>
          </a:prstGeom>
          <a:noFill/>
        </p:spPr>
        <p:txBody>
          <a:bodyPr wrap="square">
            <a:spAutoFit/>
          </a:bodyPr>
          <a:lstStyle/>
          <a:p>
            <a:pPr>
              <a:buChar char="▸"/>
              <a:buFont typeface="Arial"/>
              <a:spcBef>
                <a:spcPts val="160"/>
              </a:spcBef>
            </a:pPr>
            <a:r>
              <a:rPr sz="2000">
                <a:solidFill>
                  <a:srgbClr val="1A1A2E"/>
                </a:solidFill>
                <a:latin typeface="Calibri"/>
              </a:rPr>
              <a:t>In-memory requirement memory only works if a session always hits the same GenSlide instance</a:t>
            </a:r>
          </a:p>
          <a:p>
            <a:pPr>
              <a:buChar char="▸"/>
              <a:buFont typeface="Arial"/>
              <a:spcBef>
                <a:spcPts val="160"/>
              </a:spcBef>
            </a:pPr>
            <a:r>
              <a:rPr sz="2000">
                <a:solidFill>
                  <a:srgbClr val="1A1A2E"/>
                </a:solidFill>
                <a:latin typeface="Calibri"/>
              </a:rPr>
              <a:t>Route by session_id, not by user or browser login</a:t>
            </a:r>
          </a:p>
          <a:p>
            <a:pPr>
              <a:buChar char="▸"/>
              <a:buFont typeface="Arial"/>
              <a:spcBef>
                <a:spcPts val="160"/>
              </a:spcBef>
            </a:pPr>
            <a:r>
              <a:rPr sz="2000">
                <a:solidFill>
                  <a:srgbClr val="1A1A2E"/>
                </a:solidFill>
                <a:latin typeface="Calibri"/>
              </a:rPr>
              <a:t>Keep one ASGI process per Pod; Python workers do not share memory</a:t>
            </a:r>
          </a:p>
          <a:p>
            <a:pPr>
              <a:buChar char="▸"/>
              <a:buFont typeface="Arial"/>
              <a:spcBef>
                <a:spcPts val="160"/>
              </a:spcBef>
            </a:pPr>
            <a:r>
              <a:rPr sz="2000">
                <a:solidFill>
                  <a:srgbClr val="1A1A2E"/>
                </a:solidFill>
                <a:latin typeface="Calibri"/>
              </a:rPr>
              <a:t>Kubernetes Service ClientIP affinity matches source IP, not business session_id</a:t>
            </a:r>
          </a:p>
          <a:p>
            <a:pPr>
              <a:buChar char="▸"/>
              <a:buFont typeface="Arial"/>
              <a:spcBef>
                <a:spcPts val="160"/>
              </a:spcBef>
            </a:pPr>
            <a:r>
              <a:rPr sz="2000">
                <a:solidFill>
                  <a:srgbClr val="1A1A2E"/>
                </a:solidFill>
                <a:latin typeface="Calibri"/>
              </a:rPr>
              <a:t>Restarts or routing changes lose memory; BFF still owns files and authorizations</a:t>
            </a:r>
          </a:p>
        </p:txBody>
      </p:sp>
      <p:sp>
        <p:nvSpPr>
          <p:cNvPr id="7" name="Rectangle 6"/>
          <p:cNvSpPr/>
          <p:nvPr/>
        </p:nvSpPr>
        <p:spPr>
          <a:xfrm>
            <a:off x="0" y="4709160"/>
            <a:ext cx="9144000" cy="3200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4709160"/>
            <a:ext cx="5486400" cy="320040"/>
          </a:xfrm>
          <a:prstGeom prst="rect">
            <a:avLst/>
          </a:prstGeom>
          <a:noFill/>
        </p:spPr>
        <p:txBody>
          <a:bodyPr wrap="square"/>
          <a:lstStyle/>
          <a:p>
            <a:pPr algn="l"/>
            <a:r>
              <a:rPr sz="900" b="0">
                <a:solidFill>
                  <a:srgbClr val="CADCFC"/>
                </a:solidFill>
                <a:latin typeface="Calibri"/>
              </a:rPr>
              <a:t>In-Memory Session Memory Tradeoff</a:t>
            </a:r>
          </a:p>
        </p:txBody>
      </p:sp>
      <p:sp>
        <p:nvSpPr>
          <p:cNvPr id="9" name="TextBox 8"/>
          <p:cNvSpPr txBox="1"/>
          <p:nvPr/>
        </p:nvSpPr>
        <p:spPr>
          <a:xfrm>
            <a:off x="7772400" y="4709160"/>
            <a:ext cx="1188720" cy="320040"/>
          </a:xfrm>
          <a:prstGeom prst="rect">
            <a:avLst/>
          </a:prstGeom>
          <a:noFill/>
        </p:spPr>
        <p:txBody>
          <a:bodyPr wrap="square"/>
          <a:lstStyle/>
          <a:p>
            <a:pPr algn="r"/>
            <a:r>
              <a:rPr sz="900" b="0">
                <a:solidFill>
                  <a:srgbClr val="CADCFC"/>
                </a:solidFill>
                <a:latin typeface="Calibri"/>
              </a:rPr>
              <a:t>2 / 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F"/>
        </a:solidFill>
        <a:effectLst/>
      </p:bgPr>
    </p:bg>
    <p:spTree>
      <p:nvGrpSpPr>
        <p:cNvPr id="1" name=""/>
        <p:cNvGrpSpPr/>
        <p:nvPr/>
      </p:nvGrpSpPr>
      <p:grpSpPr/>
      <p:sp>
        <p:nvSpPr>
          <p:cNvPr id="2" name="Rectangle 1"/>
          <p:cNvSpPr/>
          <p:nvPr/>
        </p:nvSpPr>
        <p:spPr>
          <a:xfrm>
            <a:off x="0" y="0"/>
            <a:ext cx="109728" cy="51435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56032"/>
            <a:ext cx="8321040" cy="658368"/>
          </a:xfrm>
          <a:prstGeom prst="rect">
            <a:avLst/>
          </a:prstGeom>
          <a:noFill/>
        </p:spPr>
        <p:txBody>
          <a:bodyPr wrap="square"/>
          <a:lstStyle/>
          <a:p>
            <a:pPr algn="l"/>
            <a:r>
              <a:rPr sz="2800" b="1">
                <a:solidFill>
                  <a:srgbClr val="FFFFFF"/>
                </a:solidFill>
                <a:latin typeface="Calibri"/>
              </a:rPr>
              <a:t>Pod and Process Affinity Constraints</a:t>
            </a:r>
          </a:p>
        </p:txBody>
      </p:sp>
      <p:sp>
        <p:nvSpPr>
          <p:cNvPr id="5" name="TextBox 4"/>
          <p:cNvSpPr txBox="1"/>
          <p:nvPr/>
        </p:nvSpPr>
        <p:spPr>
          <a:xfrm>
            <a:off x="8503920" y="182880"/>
            <a:ext cx="457200" cy="548640"/>
          </a:xfrm>
          <a:prstGeom prst="rect">
            <a:avLst/>
          </a:prstGeom>
          <a:noFill/>
        </p:spPr>
        <p:txBody>
          <a:bodyPr wrap="square"/>
          <a:lstStyle/>
          <a:p>
            <a:pPr algn="ctr"/>
            <a:r>
              <a:rPr sz="2200" b="1">
                <a:solidFill>
                  <a:srgbClr val="CADCFC"/>
                </a:solidFill>
                <a:latin typeface="Calibri"/>
              </a:rPr>
              <a:t>3</a:t>
            </a:r>
          </a:p>
        </p:txBody>
      </p:sp>
      <p:sp>
        <p:nvSpPr>
          <p:cNvPr id="6" name="TextBox 5"/>
          <p:cNvSpPr txBox="1"/>
          <p:nvPr/>
        </p:nvSpPr>
        <p:spPr>
          <a:xfrm>
            <a:off x="594360" y="1051560"/>
            <a:ext cx="8321040" cy="3611880"/>
          </a:xfrm>
          <a:prstGeom prst="rect">
            <a:avLst/>
          </a:prstGeom>
          <a:noFill/>
        </p:spPr>
        <p:txBody>
          <a:bodyPr wrap="square">
            <a:spAutoFit/>
          </a:bodyPr>
          <a:lstStyle/>
          <a:p>
            <a:pPr>
              <a:buChar char="▸"/>
              <a:buFont typeface="Arial"/>
              <a:spcBef>
                <a:spcPts val="160"/>
              </a:spcBef>
            </a:pPr>
            <a:r>
              <a:rPr sz="2000">
                <a:solidFill>
                  <a:srgbClr val="1A1A2E"/>
                </a:solidFill>
                <a:latin typeface="Calibri"/>
              </a:rPr>
              <a:t>会话亲和只保证 BFF → GenSlide 路由，不保证同一 Pod</a:t>
            </a:r>
          </a:p>
          <a:p>
            <a:pPr>
              <a:buChar char="▸"/>
              <a:buFont typeface="Arial"/>
              <a:spcBef>
                <a:spcPts val="160"/>
              </a:spcBef>
            </a:pPr>
            <a:r>
              <a:rPr sz="2000">
                <a:solidFill>
                  <a:srgbClr val="1A1A2E"/>
                </a:solidFill>
                <a:latin typeface="Calibri"/>
              </a:rPr>
              <a:t>同 Pod 内多 Worker 内存不共享，建议一 Pod 一个 ASGI 进程</a:t>
            </a:r>
          </a:p>
          <a:p>
            <a:pPr>
              <a:buChar char="▸"/>
              <a:buFont typeface="Arial"/>
              <a:spcBef>
                <a:spcPts val="160"/>
              </a:spcBef>
            </a:pPr>
            <a:r>
              <a:rPr sz="2000">
                <a:solidFill>
                  <a:srgbClr val="1A1A2E"/>
                </a:solidFill>
                <a:latin typeface="Calibri"/>
              </a:rPr>
              <a:t>Service ClientIP 亲和按来源 IP，不等于按 session_id 路由</a:t>
            </a:r>
          </a:p>
          <a:p>
            <a:pPr>
              <a:buChar char="▸"/>
              <a:buFont typeface="Arial"/>
              <a:spcBef>
                <a:spcPts val="160"/>
              </a:spcBef>
            </a:pPr>
            <a:r>
              <a:rPr sz="2000">
                <a:solidFill>
                  <a:srgbClr val="1A1A2E"/>
                </a:solidFill>
                <a:latin typeface="Calibri"/>
              </a:rPr>
              <a:t>Pod 重启、故障或路由变化后，需求记忆无法凭亲和恢复</a:t>
            </a:r>
          </a:p>
          <a:p>
            <a:pPr>
              <a:buChar char="▸"/>
              <a:buFont typeface="Arial"/>
              <a:spcBef>
                <a:spcPts val="160"/>
              </a:spcBef>
            </a:pPr>
            <a:r>
              <a:rPr sz="2000">
                <a:solidFill>
                  <a:srgbClr val="1A1A2E"/>
                </a:solidFill>
                <a:latin typeface="Calibri"/>
              </a:rPr>
              <a:t>内存需求须设 4 小时空闲清理、单会话与总容量上限</a:t>
            </a:r>
          </a:p>
        </p:txBody>
      </p:sp>
      <p:sp>
        <p:nvSpPr>
          <p:cNvPr id="7" name="Rectangle 6"/>
          <p:cNvSpPr/>
          <p:nvPr/>
        </p:nvSpPr>
        <p:spPr>
          <a:xfrm>
            <a:off x="0" y="4709160"/>
            <a:ext cx="9144000" cy="3200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4709160"/>
            <a:ext cx="5486400" cy="320040"/>
          </a:xfrm>
          <a:prstGeom prst="rect">
            <a:avLst/>
          </a:prstGeom>
          <a:noFill/>
        </p:spPr>
        <p:txBody>
          <a:bodyPr wrap="square"/>
          <a:lstStyle/>
          <a:p>
            <a:pPr algn="l"/>
            <a:r>
              <a:rPr sz="900" b="0">
                <a:solidFill>
                  <a:srgbClr val="CADCFC"/>
                </a:solidFill>
                <a:latin typeface="Calibri"/>
              </a:rPr>
              <a:t>In-Memory Session Memory Tradeoff</a:t>
            </a:r>
          </a:p>
        </p:txBody>
      </p:sp>
      <p:sp>
        <p:nvSpPr>
          <p:cNvPr id="9" name="TextBox 8"/>
          <p:cNvSpPr txBox="1"/>
          <p:nvPr/>
        </p:nvSpPr>
        <p:spPr>
          <a:xfrm>
            <a:off x="7772400" y="4709160"/>
            <a:ext cx="1188720" cy="320040"/>
          </a:xfrm>
          <a:prstGeom prst="rect">
            <a:avLst/>
          </a:prstGeom>
          <a:noFill/>
        </p:spPr>
        <p:txBody>
          <a:bodyPr wrap="square"/>
          <a:lstStyle/>
          <a:p>
            <a:pPr algn="r"/>
            <a:r>
              <a:rPr sz="900" b="0">
                <a:solidFill>
                  <a:srgbClr val="CADCFC"/>
                </a:solidFill>
                <a:latin typeface="Calibri"/>
              </a:rPr>
              <a:t>3 / 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F"/>
        </a:solidFill>
        <a:effectLst/>
      </p:bgPr>
    </p:bg>
    <p:spTree>
      <p:nvGrpSpPr>
        <p:cNvPr id="1" name=""/>
        <p:cNvGrpSpPr/>
        <p:nvPr/>
      </p:nvGrpSpPr>
      <p:grpSpPr/>
      <p:sp>
        <p:nvSpPr>
          <p:cNvPr id="2" name="Rectangle 1"/>
          <p:cNvSpPr/>
          <p:nvPr/>
        </p:nvSpPr>
        <p:spPr>
          <a:xfrm>
            <a:off x="0" y="0"/>
            <a:ext cx="109728" cy="51435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56032"/>
            <a:ext cx="8321040" cy="658368"/>
          </a:xfrm>
          <a:prstGeom prst="rect">
            <a:avLst/>
          </a:prstGeom>
          <a:noFill/>
        </p:spPr>
        <p:txBody>
          <a:bodyPr wrap="square"/>
          <a:lstStyle/>
          <a:p>
            <a:pPr algn="l"/>
            <a:r>
              <a:rPr sz="2800" b="1">
                <a:solidFill>
                  <a:srgbClr val="FFFFFF"/>
                </a:solidFill>
                <a:latin typeface="Calibri"/>
              </a:rPr>
              <a:t>Memory Loss on Restart or Failure</a:t>
            </a:r>
          </a:p>
        </p:txBody>
      </p:sp>
      <p:sp>
        <p:nvSpPr>
          <p:cNvPr id="5" name="TextBox 4"/>
          <p:cNvSpPr txBox="1"/>
          <p:nvPr/>
        </p:nvSpPr>
        <p:spPr>
          <a:xfrm>
            <a:off x="8503920" y="182880"/>
            <a:ext cx="457200" cy="548640"/>
          </a:xfrm>
          <a:prstGeom prst="rect">
            <a:avLst/>
          </a:prstGeom>
          <a:noFill/>
        </p:spPr>
        <p:txBody>
          <a:bodyPr wrap="square"/>
          <a:lstStyle/>
          <a:p>
            <a:pPr algn="ctr"/>
            <a:r>
              <a:rPr sz="2200" b="1">
                <a:solidFill>
                  <a:srgbClr val="CADCFC"/>
                </a:solidFill>
                <a:latin typeface="Calibri"/>
              </a:rPr>
              <a:t>4</a:t>
            </a:r>
          </a:p>
        </p:txBody>
      </p:sp>
      <p:sp>
        <p:nvSpPr>
          <p:cNvPr id="6" name="TextBox 5"/>
          <p:cNvSpPr txBox="1"/>
          <p:nvPr/>
        </p:nvSpPr>
        <p:spPr>
          <a:xfrm>
            <a:off x="594360" y="1051560"/>
            <a:ext cx="8321040" cy="3611880"/>
          </a:xfrm>
          <a:prstGeom prst="rect">
            <a:avLst/>
          </a:prstGeom>
          <a:noFill/>
        </p:spPr>
        <p:txBody>
          <a:bodyPr wrap="square">
            <a:spAutoFit/>
          </a:bodyPr>
          <a:lstStyle/>
          <a:p>
            <a:pPr>
              <a:buChar char="▸"/>
              <a:buFont typeface="Arial"/>
              <a:spcBef>
                <a:spcPts val="160"/>
              </a:spcBef>
            </a:pPr>
            <a:r>
              <a:rPr sz="2000">
                <a:solidFill>
                  <a:srgbClr val="1A1A2E"/>
                </a:solidFill>
                <a:latin typeface="Calibri"/>
              </a:rPr>
              <a:t>会话保持只保证同一会话落到同一 GenSlide 实例，需求记忆可放进程内存</a:t>
            </a:r>
          </a:p>
          <a:p>
            <a:pPr>
              <a:buChar char="▸"/>
              <a:buFont typeface="Arial"/>
              <a:spcBef>
                <a:spcPts val="160"/>
              </a:spcBef>
            </a:pPr>
            <a:r>
              <a:rPr sz="2000">
                <a:solidFill>
                  <a:srgbClr val="1A1A2E"/>
                </a:solidFill>
                <a:latin typeface="Calibri"/>
              </a:rPr>
              <a:t>这是用允许记忆丢失换取简化，不获得 BFF 持久化的同等保证</a:t>
            </a:r>
          </a:p>
          <a:p>
            <a:pPr>
              <a:buChar char="▸"/>
              <a:buFont typeface="Arial"/>
              <a:spcBef>
                <a:spcPts val="160"/>
              </a:spcBef>
            </a:pPr>
            <a:r>
              <a:rPr sz="2000">
                <a:solidFill>
                  <a:srgbClr val="1A1A2E"/>
                </a:solidFill>
                <a:latin typeface="Calibri"/>
              </a:rPr>
              <a:t>需按会话标识路由，并确保同一 Pod 内进入同一 ASGI 进程</a:t>
            </a:r>
          </a:p>
          <a:p>
            <a:pPr>
              <a:buChar char="▸"/>
              <a:buFont typeface="Arial"/>
              <a:spcBef>
                <a:spcPts val="160"/>
              </a:spcBef>
            </a:pPr>
            <a:r>
              <a:rPr sz="2000">
                <a:solidFill>
                  <a:srgbClr val="1A1A2E"/>
                </a:solidFill>
                <a:latin typeface="Calibri"/>
              </a:rPr>
              <a:t>重启、故障或路由变化后需求记忆无法凭亲和恢复，只能提示重新确认</a:t>
            </a:r>
          </a:p>
          <a:p>
            <a:pPr>
              <a:buChar char="▸"/>
              <a:buFont typeface="Arial"/>
              <a:spcBef>
                <a:spcPts val="160"/>
              </a:spcBef>
            </a:pPr>
            <a:r>
              <a:rPr sz="2000">
                <a:solidFill>
                  <a:srgbClr val="1A1A2E"/>
                </a:solidFill>
                <a:latin typeface="Calibri"/>
              </a:rPr>
              <a:t>授权、幂等、交接回执与已生成文件仍由 BFF 管理</a:t>
            </a:r>
          </a:p>
        </p:txBody>
      </p:sp>
      <p:sp>
        <p:nvSpPr>
          <p:cNvPr id="7" name="Rectangle 6"/>
          <p:cNvSpPr/>
          <p:nvPr/>
        </p:nvSpPr>
        <p:spPr>
          <a:xfrm>
            <a:off x="0" y="4709160"/>
            <a:ext cx="9144000" cy="3200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4709160"/>
            <a:ext cx="5486400" cy="320040"/>
          </a:xfrm>
          <a:prstGeom prst="rect">
            <a:avLst/>
          </a:prstGeom>
          <a:noFill/>
        </p:spPr>
        <p:txBody>
          <a:bodyPr wrap="square"/>
          <a:lstStyle/>
          <a:p>
            <a:pPr algn="l"/>
            <a:r>
              <a:rPr sz="900" b="0">
                <a:solidFill>
                  <a:srgbClr val="CADCFC"/>
                </a:solidFill>
                <a:latin typeface="Calibri"/>
              </a:rPr>
              <a:t>In-Memory Session Memory Tradeoff</a:t>
            </a:r>
          </a:p>
        </p:txBody>
      </p:sp>
      <p:sp>
        <p:nvSpPr>
          <p:cNvPr id="9" name="TextBox 8"/>
          <p:cNvSpPr txBox="1"/>
          <p:nvPr/>
        </p:nvSpPr>
        <p:spPr>
          <a:xfrm>
            <a:off x="7772400" y="4709160"/>
            <a:ext cx="1188720" cy="320040"/>
          </a:xfrm>
          <a:prstGeom prst="rect">
            <a:avLst/>
          </a:prstGeom>
          <a:noFill/>
        </p:spPr>
        <p:txBody>
          <a:bodyPr wrap="square"/>
          <a:lstStyle/>
          <a:p>
            <a:pPr algn="r"/>
            <a:r>
              <a:rPr sz="900" b="0">
                <a:solidFill>
                  <a:srgbClr val="CADCFC"/>
                </a:solidFill>
                <a:latin typeface="Calibri"/>
              </a:rPr>
              <a:t>4 / 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F"/>
        </a:solidFill>
        <a:effectLst/>
      </p:bgPr>
    </p:bg>
    <p:spTree>
      <p:nvGrpSpPr>
        <p:cNvPr id="1" name=""/>
        <p:cNvGrpSpPr/>
        <p:nvPr/>
      </p:nvGrpSpPr>
      <p:grpSpPr/>
      <p:sp>
        <p:nvSpPr>
          <p:cNvPr id="2" name="Rectangle 1"/>
          <p:cNvSpPr/>
          <p:nvPr/>
        </p:nvSpPr>
        <p:spPr>
          <a:xfrm>
            <a:off x="0" y="0"/>
            <a:ext cx="109728" cy="51435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56032"/>
            <a:ext cx="8321040" cy="658368"/>
          </a:xfrm>
          <a:prstGeom prst="rect">
            <a:avLst/>
          </a:prstGeom>
          <a:noFill/>
        </p:spPr>
        <p:txBody>
          <a:bodyPr wrap="square"/>
          <a:lstStyle/>
          <a:p>
            <a:pPr algn="l"/>
            <a:r>
              <a:rPr sz="2800" b="1">
                <a:solidFill>
                  <a:srgbClr val="FFFFFF"/>
                </a:solidFill>
                <a:latin typeface="Calibri"/>
              </a:rPr>
              <a:t>Kubernetes ClientIP Affinity Limitation</a:t>
            </a:r>
          </a:p>
        </p:txBody>
      </p:sp>
      <p:sp>
        <p:nvSpPr>
          <p:cNvPr id="5" name="TextBox 4"/>
          <p:cNvSpPr txBox="1"/>
          <p:nvPr/>
        </p:nvSpPr>
        <p:spPr>
          <a:xfrm>
            <a:off x="8503920" y="182880"/>
            <a:ext cx="457200" cy="548640"/>
          </a:xfrm>
          <a:prstGeom prst="rect">
            <a:avLst/>
          </a:prstGeom>
          <a:noFill/>
        </p:spPr>
        <p:txBody>
          <a:bodyPr wrap="square"/>
          <a:lstStyle/>
          <a:p>
            <a:pPr algn="ctr"/>
            <a:r>
              <a:rPr sz="2200" b="1">
                <a:solidFill>
                  <a:srgbClr val="CADCFC"/>
                </a:solidFill>
                <a:latin typeface="Calibri"/>
              </a:rPr>
              <a:t>5</a:t>
            </a:r>
          </a:p>
        </p:txBody>
      </p:sp>
      <p:sp>
        <p:nvSpPr>
          <p:cNvPr id="6" name="TextBox 5"/>
          <p:cNvSpPr txBox="1"/>
          <p:nvPr/>
        </p:nvSpPr>
        <p:spPr>
          <a:xfrm>
            <a:off x="594360" y="1051560"/>
            <a:ext cx="8321040" cy="3611880"/>
          </a:xfrm>
          <a:prstGeom prst="rect">
            <a:avLst/>
          </a:prstGeom>
          <a:noFill/>
        </p:spPr>
        <p:txBody>
          <a:bodyPr wrap="square">
            <a:spAutoFit/>
          </a:bodyPr>
          <a:lstStyle/>
          <a:p>
            <a:pPr>
              <a:buChar char="▸"/>
              <a:buFont typeface="Arial"/>
              <a:spcBef>
                <a:spcPts val="160"/>
              </a:spcBef>
            </a:pPr>
            <a:r>
              <a:rPr sz="2000">
                <a:solidFill>
                  <a:srgbClr val="1A1A2E"/>
                </a:solidFill>
                <a:latin typeface="Calibri"/>
              </a:rPr>
              <a:t>会话保持需维持 BFF 到 GenSlide 的路由，登录同一 BFF 不足以保证同 Pod</a:t>
            </a:r>
          </a:p>
          <a:p>
            <a:pPr>
              <a:buChar char="▸"/>
              <a:buFont typeface="Arial"/>
              <a:spcBef>
                <a:spcPts val="160"/>
              </a:spcBef>
            </a:pPr>
            <a:r>
              <a:rPr sz="2000">
                <a:solidFill>
                  <a:srgbClr val="1A1A2E"/>
                </a:solidFill>
                <a:latin typeface="Calibri"/>
              </a:rPr>
              <a:t>Kubernetes Service 的 ClientIP 亲和按来源 IP，而非业务 session_id</a:t>
            </a:r>
          </a:p>
          <a:p>
            <a:pPr>
              <a:buChar char="▸"/>
              <a:buFont typeface="Arial"/>
              <a:spcBef>
                <a:spcPts val="160"/>
              </a:spcBef>
            </a:pPr>
            <a:r>
              <a:rPr sz="2000">
                <a:solidFill>
                  <a:srgbClr val="1A1A2E"/>
                </a:solidFill>
                <a:latin typeface="Calibri"/>
              </a:rPr>
              <a:t>BFF 转发架构下可能将多用户集中到同一 Pod，不能当业务会话方案</a:t>
            </a:r>
          </a:p>
          <a:p>
            <a:pPr>
              <a:buChar char="▸"/>
              <a:buFont typeface="Arial"/>
              <a:spcBef>
                <a:spcPts val="160"/>
              </a:spcBef>
            </a:pPr>
            <a:r>
              <a:rPr sz="2000">
                <a:solidFill>
                  <a:srgbClr val="1A1A2E"/>
                </a:solidFill>
                <a:latin typeface="Calibri"/>
              </a:rPr>
              <a:t>内存方案换取简化，但接受重启、故障或路由变化后需求记忆丢失</a:t>
            </a:r>
          </a:p>
          <a:p>
            <a:pPr>
              <a:buChar char="▸"/>
              <a:buFont typeface="Arial"/>
              <a:spcBef>
                <a:spcPts val="160"/>
              </a:spcBef>
            </a:pPr>
            <a:r>
              <a:rPr sz="2000">
                <a:solidFill>
                  <a:srgbClr val="1A1A2E"/>
                </a:solidFill>
                <a:latin typeface="Calibri"/>
              </a:rPr>
              <a:t>建议一 Pod 一个 ASGI 进程，避免多 Worker 内存不共享</a:t>
            </a:r>
          </a:p>
        </p:txBody>
      </p:sp>
      <p:sp>
        <p:nvSpPr>
          <p:cNvPr id="7" name="Rectangle 6"/>
          <p:cNvSpPr/>
          <p:nvPr/>
        </p:nvSpPr>
        <p:spPr>
          <a:xfrm>
            <a:off x="0" y="4709160"/>
            <a:ext cx="9144000" cy="3200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4709160"/>
            <a:ext cx="5486400" cy="320040"/>
          </a:xfrm>
          <a:prstGeom prst="rect">
            <a:avLst/>
          </a:prstGeom>
          <a:noFill/>
        </p:spPr>
        <p:txBody>
          <a:bodyPr wrap="square"/>
          <a:lstStyle/>
          <a:p>
            <a:pPr algn="l"/>
            <a:r>
              <a:rPr sz="900" b="0">
                <a:solidFill>
                  <a:srgbClr val="CADCFC"/>
                </a:solidFill>
                <a:latin typeface="Calibri"/>
              </a:rPr>
              <a:t>In-Memory Session Memory Tradeoff</a:t>
            </a:r>
          </a:p>
        </p:txBody>
      </p:sp>
      <p:sp>
        <p:nvSpPr>
          <p:cNvPr id="9" name="TextBox 8"/>
          <p:cNvSpPr txBox="1"/>
          <p:nvPr/>
        </p:nvSpPr>
        <p:spPr>
          <a:xfrm>
            <a:off x="7772400" y="4709160"/>
            <a:ext cx="1188720" cy="320040"/>
          </a:xfrm>
          <a:prstGeom prst="rect">
            <a:avLst/>
          </a:prstGeom>
          <a:noFill/>
        </p:spPr>
        <p:txBody>
          <a:bodyPr wrap="square"/>
          <a:lstStyle/>
          <a:p>
            <a:pPr algn="r"/>
            <a:r>
              <a:rPr sz="900" b="0">
                <a:solidFill>
                  <a:srgbClr val="CADCFC"/>
                </a:solidFill>
                <a:latin typeface="Calibri"/>
              </a:rPr>
              <a:t>5 / 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F"/>
        </a:solidFill>
        <a:effectLst/>
      </p:bgPr>
    </p:bg>
    <p:spTree>
      <p:nvGrpSpPr>
        <p:cNvPr id="1" name=""/>
        <p:cNvGrpSpPr/>
        <p:nvPr/>
      </p:nvGrpSpPr>
      <p:grpSpPr/>
      <p:sp>
        <p:nvSpPr>
          <p:cNvPr id="2" name="Rectangle 1"/>
          <p:cNvSpPr/>
          <p:nvPr/>
        </p:nvSpPr>
        <p:spPr>
          <a:xfrm>
            <a:off x="0" y="0"/>
            <a:ext cx="109728" cy="51435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56032"/>
            <a:ext cx="8321040" cy="658368"/>
          </a:xfrm>
          <a:prstGeom prst="rect">
            <a:avLst/>
          </a:prstGeom>
          <a:noFill/>
        </p:spPr>
        <p:txBody>
          <a:bodyPr wrap="square"/>
          <a:lstStyle/>
          <a:p>
            <a:pPr algn="l"/>
            <a:r>
              <a:rPr sz="2800" b="1">
                <a:solidFill>
                  <a:srgbClr val="FFFFFF"/>
                </a:solidFill>
                <a:latin typeface="Calibri"/>
              </a:rPr>
              <a:t>State Storage Responsibility Split</a:t>
            </a:r>
          </a:p>
        </p:txBody>
      </p:sp>
      <p:sp>
        <p:nvSpPr>
          <p:cNvPr id="5" name="TextBox 4"/>
          <p:cNvSpPr txBox="1"/>
          <p:nvPr/>
        </p:nvSpPr>
        <p:spPr>
          <a:xfrm>
            <a:off x="8503920" y="182880"/>
            <a:ext cx="457200" cy="548640"/>
          </a:xfrm>
          <a:prstGeom prst="rect">
            <a:avLst/>
          </a:prstGeom>
          <a:noFill/>
        </p:spPr>
        <p:txBody>
          <a:bodyPr wrap="square"/>
          <a:lstStyle/>
          <a:p>
            <a:pPr algn="ctr"/>
            <a:r>
              <a:rPr sz="2200" b="1">
                <a:solidFill>
                  <a:srgbClr val="CADCFC"/>
                </a:solidFill>
                <a:latin typeface="Calibri"/>
              </a:rPr>
              <a:t>6</a:t>
            </a:r>
          </a:p>
        </p:txBody>
      </p:sp>
      <p:sp>
        <p:nvSpPr>
          <p:cNvPr id="6" name="TextBox 5"/>
          <p:cNvSpPr txBox="1"/>
          <p:nvPr/>
        </p:nvSpPr>
        <p:spPr>
          <a:xfrm>
            <a:off x="594360" y="1051560"/>
            <a:ext cx="8321040" cy="3611880"/>
          </a:xfrm>
          <a:prstGeom prst="rect">
            <a:avLst/>
          </a:prstGeom>
          <a:noFill/>
        </p:spPr>
        <p:txBody>
          <a:bodyPr wrap="square">
            <a:spAutoFit/>
          </a:bodyPr>
          <a:lstStyle/>
          <a:p>
            <a:pPr>
              <a:buChar char="▸"/>
              <a:buFont typeface="Arial"/>
              <a:spcBef>
                <a:spcPts val="160"/>
              </a:spcBef>
            </a:pPr>
            <a:r>
              <a:rPr sz="2000">
                <a:solidFill>
                  <a:srgbClr val="1A1A2E"/>
                </a:solidFill>
                <a:latin typeface="Calibri"/>
              </a:rPr>
              <a:t>Session affinity keeps requests on one GenSlide instance, storing requirement memory in-process</a:t>
            </a:r>
          </a:p>
          <a:p>
            <a:pPr>
              <a:buChar char="▸"/>
              <a:buFont typeface="Arial"/>
              <a:spcBef>
                <a:spcPts val="160"/>
              </a:spcBef>
            </a:pPr>
            <a:r>
              <a:rPr sz="2000">
                <a:solidFill>
                  <a:srgbClr val="1A1A2E"/>
                </a:solidFill>
                <a:latin typeface="Calibri"/>
              </a:rPr>
              <a:t>Route BFF→GenSlide by session ID, not just by user identity</a:t>
            </a:r>
          </a:p>
          <a:p>
            <a:pPr>
              <a:buChar char="▸"/>
              <a:buFont typeface="Arial"/>
              <a:spcBef>
                <a:spcPts val="160"/>
              </a:spcBef>
            </a:pPr>
            <a:r>
              <a:rPr sz="2000">
                <a:solidFill>
                  <a:srgbClr val="1A1A2E"/>
                </a:solidFill>
                <a:latin typeface="Calibri"/>
              </a:rPr>
              <a:t>Multiple Python workers don't share memory; keep one ASGI process per pod</a:t>
            </a:r>
          </a:p>
          <a:p>
            <a:pPr>
              <a:buChar char="▸"/>
              <a:buFont typeface="Arial"/>
              <a:spcBef>
                <a:spcPts val="160"/>
              </a:spcBef>
            </a:pPr>
            <a:r>
              <a:rPr sz="2000">
                <a:solidFill>
                  <a:srgbClr val="1A1A2E"/>
                </a:solidFill>
                <a:latin typeface="Calibri"/>
              </a:rPr>
              <a:t>Pod restarts or routing changes lose memory; users must re-confirm requirements</a:t>
            </a:r>
          </a:p>
          <a:p>
            <a:pPr>
              <a:buChar char="▸"/>
              <a:buFont typeface="Arial"/>
              <a:spcBef>
                <a:spcPts val="160"/>
              </a:spcBef>
            </a:pPr>
            <a:r>
              <a:rPr sz="2000">
                <a:solidFill>
                  <a:srgbClr val="1A1A2E"/>
                </a:solidFill>
                <a:latin typeface="Calibri"/>
              </a:rPr>
              <a:t>BFF still owns authorization, session versions, idempotency, files, and download records</a:t>
            </a:r>
          </a:p>
        </p:txBody>
      </p:sp>
      <p:sp>
        <p:nvSpPr>
          <p:cNvPr id="7" name="Rectangle 6"/>
          <p:cNvSpPr/>
          <p:nvPr/>
        </p:nvSpPr>
        <p:spPr>
          <a:xfrm>
            <a:off x="0" y="4709160"/>
            <a:ext cx="9144000" cy="3200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4709160"/>
            <a:ext cx="5486400" cy="320040"/>
          </a:xfrm>
          <a:prstGeom prst="rect">
            <a:avLst/>
          </a:prstGeom>
          <a:noFill/>
        </p:spPr>
        <p:txBody>
          <a:bodyPr wrap="square"/>
          <a:lstStyle/>
          <a:p>
            <a:pPr algn="l"/>
            <a:r>
              <a:rPr sz="900" b="0">
                <a:solidFill>
                  <a:srgbClr val="CADCFC"/>
                </a:solidFill>
                <a:latin typeface="Calibri"/>
              </a:rPr>
              <a:t>In-Memory Session Memory Tradeoff</a:t>
            </a:r>
          </a:p>
        </p:txBody>
      </p:sp>
      <p:sp>
        <p:nvSpPr>
          <p:cNvPr id="9" name="TextBox 8"/>
          <p:cNvSpPr txBox="1"/>
          <p:nvPr/>
        </p:nvSpPr>
        <p:spPr>
          <a:xfrm>
            <a:off x="7772400" y="4709160"/>
            <a:ext cx="1188720" cy="320040"/>
          </a:xfrm>
          <a:prstGeom prst="rect">
            <a:avLst/>
          </a:prstGeom>
          <a:noFill/>
        </p:spPr>
        <p:txBody>
          <a:bodyPr wrap="square"/>
          <a:lstStyle/>
          <a:p>
            <a:pPr algn="r"/>
            <a:r>
              <a:rPr sz="900" b="0">
                <a:solidFill>
                  <a:srgbClr val="CADCFC"/>
                </a:solidFill>
                <a:latin typeface="Calibri"/>
              </a:rPr>
              <a:t>6 / 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F"/>
        </a:solidFill>
        <a:effectLst/>
      </p:bgPr>
    </p:bg>
    <p:spTree>
      <p:nvGrpSpPr>
        <p:cNvPr id="1" name=""/>
        <p:cNvGrpSpPr/>
        <p:nvPr/>
      </p:nvGrpSpPr>
      <p:grpSpPr/>
      <p:sp>
        <p:nvSpPr>
          <p:cNvPr id="2" name="Rectangle 1"/>
          <p:cNvSpPr/>
          <p:nvPr/>
        </p:nvSpPr>
        <p:spPr>
          <a:xfrm>
            <a:off x="0" y="0"/>
            <a:ext cx="109728" cy="51435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56032"/>
            <a:ext cx="8321040" cy="658368"/>
          </a:xfrm>
          <a:prstGeom prst="rect">
            <a:avLst/>
          </a:prstGeom>
          <a:noFill/>
        </p:spPr>
        <p:txBody>
          <a:bodyPr wrap="square"/>
          <a:lstStyle/>
          <a:p>
            <a:pPr algn="l"/>
            <a:r>
              <a:rPr sz="2800" b="1">
                <a:solidFill>
                  <a:srgbClr val="FFFFFF"/>
                </a:solidFill>
                <a:latin typeface="Calibri"/>
              </a:rPr>
              <a:t>Memory Governance Limits and Identity</a:t>
            </a:r>
          </a:p>
        </p:txBody>
      </p:sp>
      <p:sp>
        <p:nvSpPr>
          <p:cNvPr id="5" name="TextBox 4"/>
          <p:cNvSpPr txBox="1"/>
          <p:nvPr/>
        </p:nvSpPr>
        <p:spPr>
          <a:xfrm>
            <a:off x="8503920" y="182880"/>
            <a:ext cx="457200" cy="548640"/>
          </a:xfrm>
          <a:prstGeom prst="rect">
            <a:avLst/>
          </a:prstGeom>
          <a:noFill/>
        </p:spPr>
        <p:txBody>
          <a:bodyPr wrap="square"/>
          <a:lstStyle/>
          <a:p>
            <a:pPr algn="ctr"/>
            <a:r>
              <a:rPr sz="2200" b="1">
                <a:solidFill>
                  <a:srgbClr val="CADCFC"/>
                </a:solidFill>
                <a:latin typeface="Calibri"/>
              </a:rPr>
              <a:t>7</a:t>
            </a:r>
          </a:p>
        </p:txBody>
      </p:sp>
      <p:sp>
        <p:nvSpPr>
          <p:cNvPr id="6" name="TextBox 5"/>
          <p:cNvSpPr txBox="1"/>
          <p:nvPr/>
        </p:nvSpPr>
        <p:spPr>
          <a:xfrm>
            <a:off x="594360" y="1051560"/>
            <a:ext cx="8321040" cy="3611880"/>
          </a:xfrm>
          <a:prstGeom prst="rect">
            <a:avLst/>
          </a:prstGeom>
          <a:noFill/>
        </p:spPr>
        <p:txBody>
          <a:bodyPr wrap="square">
            <a:spAutoFit/>
          </a:bodyPr>
          <a:lstStyle/>
          <a:p>
            <a:pPr>
              <a:buChar char="▸"/>
              <a:buFont typeface="Arial"/>
              <a:spcBef>
                <a:spcPts val="160"/>
              </a:spcBef>
            </a:pPr>
            <a:r>
              <a:rPr sz="2000">
                <a:solidFill>
                  <a:srgbClr val="1A1A2E"/>
                </a:solidFill>
                <a:latin typeface="Calibri"/>
              </a:rPr>
              <a:t>会话保持需同时满足 BFF 路由与同 Pod 同进程</a:t>
            </a:r>
          </a:p>
          <a:p>
            <a:pPr>
              <a:buChar char="▸"/>
              <a:buFont typeface="Arial"/>
              <a:spcBef>
                <a:spcPts val="160"/>
              </a:spcBef>
            </a:pPr>
            <a:r>
              <a:rPr sz="2000">
                <a:solidFill>
                  <a:srgbClr val="1A1A2E"/>
                </a:solidFill>
                <a:latin typeface="Calibri"/>
              </a:rPr>
              <a:t>浏览器登录或 Service ClientIP 亲和都不足以保证</a:t>
            </a:r>
          </a:p>
          <a:p>
            <a:pPr>
              <a:buChar char="▸"/>
              <a:buFont typeface="Arial"/>
              <a:spcBef>
                <a:spcPts val="160"/>
              </a:spcBef>
            </a:pPr>
            <a:r>
              <a:rPr sz="2000">
                <a:solidFill>
                  <a:srgbClr val="1A1A2E"/>
                </a:solidFill>
                <a:latin typeface="Calibri"/>
              </a:rPr>
              <a:t>重启、故障或路由变化后需求记忆将丢失</a:t>
            </a:r>
          </a:p>
          <a:p>
            <a:pPr>
              <a:buChar char="▸"/>
              <a:buFont typeface="Arial"/>
              <a:spcBef>
                <a:spcPts val="160"/>
              </a:spcBef>
            </a:pPr>
            <a:r>
              <a:rPr sz="2000">
                <a:solidFill>
                  <a:srgbClr val="1A1A2E"/>
                </a:solidFill>
                <a:latin typeface="Calibri"/>
              </a:rPr>
              <a:t>内存需求须绑定完整身份与运行时标识</a:t>
            </a:r>
          </a:p>
          <a:p>
            <a:pPr>
              <a:buChar char="▸"/>
              <a:buFont typeface="Arial"/>
              <a:spcBef>
                <a:spcPts val="160"/>
              </a:spcBef>
            </a:pPr>
            <a:r>
              <a:rPr sz="2000">
                <a:solidFill>
                  <a:srgbClr val="1A1A2E"/>
                </a:solidFill>
                <a:latin typeface="Calibri"/>
              </a:rPr>
              <a:t>设 4 小时空闲清理、单会话与总容量上限</a:t>
            </a:r>
          </a:p>
          <a:p>
            <a:pPr>
              <a:buChar char="▸"/>
              <a:buFont typeface="Arial"/>
              <a:spcBef>
                <a:spcPts val="160"/>
              </a:spcBef>
            </a:pPr>
            <a:r>
              <a:rPr sz="2000">
                <a:solidFill>
                  <a:srgbClr val="1A1A2E"/>
                </a:solidFill>
                <a:latin typeface="Calibri"/>
              </a:rPr>
              <a:t>记忆丢失时应提示重新确认，不得假装记得</a:t>
            </a:r>
          </a:p>
        </p:txBody>
      </p:sp>
      <p:sp>
        <p:nvSpPr>
          <p:cNvPr id="7" name="Rectangle 6"/>
          <p:cNvSpPr/>
          <p:nvPr/>
        </p:nvSpPr>
        <p:spPr>
          <a:xfrm>
            <a:off x="0" y="4709160"/>
            <a:ext cx="9144000" cy="3200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4709160"/>
            <a:ext cx="5486400" cy="320040"/>
          </a:xfrm>
          <a:prstGeom prst="rect">
            <a:avLst/>
          </a:prstGeom>
          <a:noFill/>
        </p:spPr>
        <p:txBody>
          <a:bodyPr wrap="square"/>
          <a:lstStyle/>
          <a:p>
            <a:pPr algn="l"/>
            <a:r>
              <a:rPr sz="900" b="0">
                <a:solidFill>
                  <a:srgbClr val="CADCFC"/>
                </a:solidFill>
                <a:latin typeface="Calibri"/>
              </a:rPr>
              <a:t>In-Memory Session Memory Tradeoff</a:t>
            </a:r>
          </a:p>
        </p:txBody>
      </p:sp>
      <p:sp>
        <p:nvSpPr>
          <p:cNvPr id="9" name="TextBox 8"/>
          <p:cNvSpPr txBox="1"/>
          <p:nvPr/>
        </p:nvSpPr>
        <p:spPr>
          <a:xfrm>
            <a:off x="7772400" y="4709160"/>
            <a:ext cx="1188720" cy="320040"/>
          </a:xfrm>
          <a:prstGeom prst="rect">
            <a:avLst/>
          </a:prstGeom>
          <a:noFill/>
        </p:spPr>
        <p:txBody>
          <a:bodyPr wrap="square"/>
          <a:lstStyle/>
          <a:p>
            <a:pPr algn="r"/>
            <a:r>
              <a:rPr sz="900" b="0">
                <a:solidFill>
                  <a:srgbClr val="CADCFC"/>
                </a:solidFill>
                <a:latin typeface="Calibri"/>
              </a:rPr>
              <a:t>7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F"/>
        </a:solidFill>
        <a:effectLst/>
      </p:bgPr>
    </p:bg>
    <p:spTree>
      <p:nvGrpSpPr>
        <p:cNvPr id="1" name=""/>
        <p:cNvGrpSpPr/>
        <p:nvPr/>
      </p:nvGrpSpPr>
      <p:grpSpPr/>
      <p:sp>
        <p:nvSpPr>
          <p:cNvPr id="2" name="Rectangle 1"/>
          <p:cNvSpPr/>
          <p:nvPr/>
        </p:nvSpPr>
        <p:spPr>
          <a:xfrm>
            <a:off x="0" y="0"/>
            <a:ext cx="109728" cy="51435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56032"/>
            <a:ext cx="8321040" cy="658368"/>
          </a:xfrm>
          <a:prstGeom prst="rect">
            <a:avLst/>
          </a:prstGeom>
          <a:noFill/>
        </p:spPr>
        <p:txBody>
          <a:bodyPr wrap="square"/>
          <a:lstStyle/>
          <a:p>
            <a:pPr algn="l"/>
            <a:r>
              <a:rPr sz="2800" b="1">
                <a:solidFill>
                  <a:srgbClr val="FFFFFF"/>
                </a:solidFill>
                <a:latin typeface="Calibri"/>
              </a:rPr>
              <a:t>Recommendation and Commitment Changes</a:t>
            </a:r>
          </a:p>
        </p:txBody>
      </p:sp>
      <p:sp>
        <p:nvSpPr>
          <p:cNvPr id="5" name="TextBox 4"/>
          <p:cNvSpPr txBox="1"/>
          <p:nvPr/>
        </p:nvSpPr>
        <p:spPr>
          <a:xfrm>
            <a:off x="8503920" y="182880"/>
            <a:ext cx="457200" cy="548640"/>
          </a:xfrm>
          <a:prstGeom prst="rect">
            <a:avLst/>
          </a:prstGeom>
          <a:noFill/>
        </p:spPr>
        <p:txBody>
          <a:bodyPr wrap="square"/>
          <a:lstStyle/>
          <a:p>
            <a:pPr algn="ctr"/>
            <a:r>
              <a:rPr sz="2200" b="1">
                <a:solidFill>
                  <a:srgbClr val="CADCFC"/>
                </a:solidFill>
                <a:latin typeface="Calibri"/>
              </a:rPr>
              <a:t>8</a:t>
            </a:r>
          </a:p>
        </p:txBody>
      </p:sp>
      <p:sp>
        <p:nvSpPr>
          <p:cNvPr id="6" name="TextBox 5"/>
          <p:cNvSpPr txBox="1"/>
          <p:nvPr/>
        </p:nvSpPr>
        <p:spPr>
          <a:xfrm>
            <a:off x="594360" y="1051560"/>
            <a:ext cx="8321040" cy="3611880"/>
          </a:xfrm>
          <a:prstGeom prst="rect">
            <a:avLst/>
          </a:prstGeom>
          <a:noFill/>
        </p:spPr>
        <p:txBody>
          <a:bodyPr wrap="square">
            <a:spAutoFit/>
          </a:bodyPr>
          <a:lstStyle/>
          <a:p>
            <a:pPr>
              <a:buChar char="▸"/>
              <a:buFont typeface="Arial"/>
              <a:spcBef>
                <a:spcPts val="160"/>
              </a:spcBef>
            </a:pPr>
            <a:r>
              <a:rPr sz="2000">
                <a:solidFill>
                  <a:srgbClr val="1A1A2E"/>
                </a:solidFill>
                <a:latin typeface="Calibri"/>
              </a:rPr>
              <a:t>Memory-based requirement memory works only with session-affinity routing to one GenSlide instance and process</a:t>
            </a:r>
          </a:p>
          <a:p>
            <a:pPr>
              <a:buChar char="▸"/>
              <a:buFont typeface="Arial"/>
              <a:spcBef>
                <a:spcPts val="160"/>
              </a:spcBef>
            </a:pPr>
            <a:r>
              <a:rPr sz="2000">
                <a:solidFill>
                  <a:srgbClr val="1A1A2E"/>
                </a:solidFill>
                <a:latin typeface="Calibri"/>
              </a:rPr>
              <a:t>Route by session identifier, not user; ClientIP affinity alone is insufficient</a:t>
            </a:r>
          </a:p>
          <a:p>
            <a:pPr>
              <a:buChar char="▸"/>
              <a:buFont typeface="Arial"/>
              <a:spcBef>
                <a:spcPts val="160"/>
              </a:spcBef>
            </a:pPr>
            <a:r>
              <a:rPr sz="2000">
                <a:solidFill>
                  <a:srgbClr val="1A1A2E"/>
                </a:solidFill>
                <a:latin typeface="Calibri"/>
              </a:rPr>
              <a:t>Restarts or routing changes lose requirement memory; show 'context invalid, re-confirm' messaging</a:t>
            </a:r>
          </a:p>
          <a:p>
            <a:pPr>
              <a:buChar char="▸"/>
              <a:buFont typeface="Arial"/>
              <a:spcBef>
                <a:spcPts val="160"/>
              </a:spcBef>
            </a:pPr>
            <a:r>
              <a:rPr sz="2000">
                <a:solidFill>
                  <a:srgbClr val="1A1A2E"/>
                </a:solidFill>
                <a:latin typeface="Calibri"/>
              </a:rPr>
              <a:t>BFF still owns authorization, versioning, idempotency, files; memory needs cleanup and capacity caps</a:t>
            </a:r>
          </a:p>
          <a:p>
            <a:pPr>
              <a:buChar char="▸"/>
              <a:buFont typeface="Arial"/>
              <a:spcBef>
                <a:spcPts val="160"/>
              </a:spcBef>
            </a:pPr>
            <a:r>
              <a:rPr sz="2000">
                <a:solidFill>
                  <a:srgbClr val="1A1A2E"/>
                </a:solidFill>
                <a:latin typeface="Calibri"/>
              </a:rPr>
              <a:t>Phase one: accept memory if restart-time re-confirmation is acceptable; otherwise keep BFF snapshots</a:t>
            </a:r>
          </a:p>
        </p:txBody>
      </p:sp>
      <p:sp>
        <p:nvSpPr>
          <p:cNvPr id="7" name="Rectangle 6"/>
          <p:cNvSpPr/>
          <p:nvPr/>
        </p:nvSpPr>
        <p:spPr>
          <a:xfrm>
            <a:off x="0" y="4709160"/>
            <a:ext cx="9144000" cy="3200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4709160"/>
            <a:ext cx="5486400" cy="320040"/>
          </a:xfrm>
          <a:prstGeom prst="rect">
            <a:avLst/>
          </a:prstGeom>
          <a:noFill/>
        </p:spPr>
        <p:txBody>
          <a:bodyPr wrap="square"/>
          <a:lstStyle/>
          <a:p>
            <a:pPr algn="l"/>
            <a:r>
              <a:rPr sz="900" b="0">
                <a:solidFill>
                  <a:srgbClr val="CADCFC"/>
                </a:solidFill>
                <a:latin typeface="Calibri"/>
              </a:rPr>
              <a:t>In-Memory Session Memory Tradeoff</a:t>
            </a:r>
          </a:p>
        </p:txBody>
      </p:sp>
      <p:sp>
        <p:nvSpPr>
          <p:cNvPr id="9" name="TextBox 8"/>
          <p:cNvSpPr txBox="1"/>
          <p:nvPr/>
        </p:nvSpPr>
        <p:spPr>
          <a:xfrm>
            <a:off x="7772400" y="4709160"/>
            <a:ext cx="1188720" cy="320040"/>
          </a:xfrm>
          <a:prstGeom prst="rect">
            <a:avLst/>
          </a:prstGeom>
          <a:noFill/>
        </p:spPr>
        <p:txBody>
          <a:bodyPr wrap="square"/>
          <a:lstStyle/>
          <a:p>
            <a:pPr algn="r"/>
            <a:r>
              <a:rPr sz="900" b="0">
                <a:solidFill>
                  <a:srgbClr val="CADCFC"/>
                </a:solidFill>
                <a:latin typeface="Calibri"/>
              </a:rPr>
              <a:t>8 / 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201168" cy="514350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0"/>
            <a:ext cx="8046720" cy="1097280"/>
          </a:xfrm>
          <a:prstGeom prst="rect">
            <a:avLst/>
          </a:prstGeom>
          <a:noFill/>
        </p:spPr>
        <p:txBody>
          <a:bodyPr wrap="square"/>
          <a:lstStyle/>
          <a:p>
            <a:pPr algn="l"/>
            <a:r>
              <a:rPr sz="4400" b="1">
                <a:solidFill>
                  <a:srgbClr val="FFFFFF"/>
                </a:solidFill>
                <a:latin typeface="Calibri"/>
              </a:rPr>
              <a:t>Thank you</a:t>
            </a:r>
          </a:p>
        </p:txBody>
      </p:sp>
      <p:sp>
        <p:nvSpPr>
          <p:cNvPr id="4" name="Rectangle 3"/>
          <p:cNvSpPr/>
          <p:nvPr/>
        </p:nvSpPr>
        <p:spPr>
          <a:xfrm>
            <a:off x="502920" y="2834640"/>
            <a:ext cx="2286000" cy="2540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3017520"/>
            <a:ext cx="8046720" cy="640080"/>
          </a:xfrm>
          <a:prstGeom prst="rect">
            <a:avLst/>
          </a:prstGeom>
          <a:noFill/>
        </p:spPr>
        <p:txBody>
          <a:bodyPr wrap="square"/>
          <a:lstStyle/>
          <a:p>
            <a:pPr algn="l"/>
            <a:r>
              <a:rPr sz="1800" b="0">
                <a:solidFill>
                  <a:srgbClr val="CADCFC"/>
                </a:solidFill>
                <a:latin typeface="Calibri"/>
              </a:rPr>
              <a:t>In-Memory Session Memory Tradeoff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