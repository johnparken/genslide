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把需求记忆放在 GenSlide 进程内存里，本质是用允许记忆丢失换取实现简化，它并不能提供 BFF 持久化那样的保证。前提是 BFF 到 GenSlide 的路由按会话标识保持稳定，并且一个 Pod 只运行一个 ASGI 进程。需要提醒的是，Kubernetes Service 的 ClientIP 亲和是按来源 IP 而非业务 session_id，在 BFF 转发架构下可能把大量用户挤到同一 Pod，不能当作业务会话保持方案。如果一期接受服务重启后需要重新确认需求，内存方案可行；若要求发布或故障切换后记忆不断，就应保留 BFF 快照，并同步移除原先关于免粘性路由和重启恢复的承诺。</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Routing is the crux of this design: if the same session always lands on the same GenSlide instance, we can hold requirement memory in that process and stop asking BFF to store snapshots. BFF login continuity alone does not guarantee Pod affinity, so we must route on the session identifier, and keep one ASGI process per Pod since separate Python workers do not share memory. Be careful with Kubernetes ClientIP affinity, which is based on source IP and would concentrate many users on one Pod — it cannot serve as business session stickiness. The trade-off is explicit: restarts, failures, or routing changes lose the requirement context, so if durability across releases matters, keep the BFF snapshot approach.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option trades durability for simplicity: the same session keeps landing on one GenSlide process, so requirement memory lives in that process and the BFF no longer has to store snapshots. Two conditions must hold — routing by session identifier rather than user, and one ASGI process per pod, since separate Python workers do not share memory. Kubernetes' built-in ClientIP affinity will not solve this, because in a BFF forwarding architecture it groups users by source IP and can collapse many sessions onto a single pod. If the memory record is lost after a restart, state plainly that the requirement context has expired and ask the user to reconfirm — what is lost is the requirement memory, not the files already handed to the BFF.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Storing requirement state in memory simplifies the architecture, but it trades away durability: affinity only guarantees that one session's requests reach the same Pod, and it restores nothing once that Pod is replaced. Kubernetes ClientIP affinity follows source IP rather than business session_id, so under our BFF forwarding it is not a usable session-keeping mechanism. We therefore route by session identifier, keep a single ASGI process per Pod, and draw a clear line on what the BFF still owns: authorizations, session versions, idempotency, handover receipts, and all generated files. If the in-memory record disappears, the assistant must explicitly say the requirement context is invalid and ask the user to confirm again, never pretend to remember.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Kubernetes session affinity looks tempting, but ClientIP affinity keys on the source address, so when all traffic arrives through your BFF it can pin an entire user base to one GenSlide Pod. Genuine session stickiness would require routing on session_id, and even then it only controls routing — it does nothing to protect the in-memory state itself. Any restart, eviction, or rollout silently wipes that requirement memory, so you must tell users the context is invalid and ask them to reconfirm. Meanwhile BFF keeps owning authorization, session versions, idempotency, and generated files, so the only loss is the requirement memory, not delivered artifacts.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这份方案的核心是权衡：用允许记忆丢失来换取架构简化，因此它拿不到 BFF 持久化那样的保证。会话亲和只负责把请求持续路由到同一个实例，Pod 一旦被替换，内存里的需求记忆就无法靠亲和恢复。所以内存中的需求必须绑定完整身份和运行时标识，并设置空闲清理、单会话与总容量上限，丢失时要明确提示上下文已失效。如果一期能接受重启后重新确认需求，内存方案可行；若要求发布和故障切换后记忆不断，就应保留 BFF 快照。</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Putting requirement memory in the GenSlide process is viable only if we accept that restarts, failures, or routing changes erase it, and Kubernetes ClientIP affinity is based on source IP, not business session ID. We must route by session identifier, keep one ASGI process per pod, bind memory to full identity and runtime identifiers, modify only a candidate copy until BFF confirms, then update only after commit. Apply the 4-hour idle cleanup plus per-session and total caps; if memory is lost, explicitly tell the user the requirement context expired and ask them to reconfirm while files already handed to BFF remain safe. Choose this only if phase one tolerates reconfirmation after restarts; otherwise keep the BFF snapshot and remove the prior no-sticky-routing and restart-recovery promises.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affinity lets us hold requirement memory inside the GenSlide process, but only if requests consistently land on the same Pod and the same process. Kubernetes ClientIP affinity is not a substitute for business session routing, because it groups many users behind the BFF onto one Pod, so we must route by session ID. The trade-off is explicit: any restart, failure, or routing change wipes that memory, and we must tell the user rather than pretending we still remember. Everything already committed to the BFF, including files, authorizations, and idempotency records, is unaffected by this loss.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only need a session's requests to keep hitting the same GenSlide instance during normal use, you can hold demand memory directly in the process and drop the BFF snapshot requirement. But that trades away durability: session affinity handles routing only, so a replaced Pod cannot restore what was in memory. Also be careful with Kubernetes Service ClientIP affinity, since it groups users by source IP rather than business session_id and can concentrate many users onto one Pod. My recommendation is to adopt the in-memory approach only if you accept that after a restart users must re-confirm their requirements; otherwise keep the BFF snapshot and its guarantees.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201168" cy="51435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0"/>
            <a:ext cx="8046720" cy="1280160"/>
          </a:xfrm>
          <a:prstGeom prst="rect">
            <a:avLst/>
          </a:prstGeom>
          <a:noFill/>
        </p:spPr>
        <p:txBody>
          <a:bodyPr wrap="square"/>
          <a:lstStyle/>
          <a:p>
            <a:pPr algn="l"/>
            <a:r>
              <a:rPr sz="4400" b="1">
                <a:solidFill>
                  <a:srgbClr val="FFFFFF"/>
                </a:solidFill>
                <a:latin typeface="Calibri"/>
              </a:rPr>
              <a:t>In-Memory Session Memory Tradeoff</a:t>
            </a:r>
          </a:p>
        </p:txBody>
      </p:sp>
      <p:sp>
        <p:nvSpPr>
          <p:cNvPr id="4" name="Rectangle 3"/>
          <p:cNvSpPr/>
          <p:nvPr/>
        </p:nvSpPr>
        <p:spPr>
          <a:xfrm>
            <a:off x="502920" y="2880360"/>
            <a:ext cx="3200400" cy="254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063240"/>
            <a:ext cx="8046720" cy="731520"/>
          </a:xfrm>
          <a:prstGeom prst="rect">
            <a:avLst/>
          </a:prstGeom>
          <a:noFill/>
        </p:spPr>
        <p:txBody>
          <a:bodyPr wrap="square"/>
          <a:lstStyle/>
          <a:p>
            <a:pPr algn="l"/>
            <a:r>
              <a:rPr sz="1800" b="0">
                <a:solidFill>
                  <a:srgbClr val="CADCFC"/>
                </a:solidFill>
                <a:latin typeface="Calibri"/>
              </a:rPr>
              <a:t>Generated by GenSlide · AI-powered presentation builder</a:t>
            </a:r>
          </a:p>
        </p:txBody>
      </p:sp>
      <p:sp>
        <p:nvSpPr>
          <p:cNvPr id="6" name="TextBox 5"/>
          <p:cNvSpPr txBox="1"/>
          <p:nvPr/>
        </p:nvSpPr>
        <p:spPr>
          <a:xfrm>
            <a:off x="6858000" y="4663440"/>
            <a:ext cx="2103120" cy="365760"/>
          </a:xfrm>
          <a:prstGeom prst="rect">
            <a:avLst/>
          </a:prstGeom>
          <a:noFill/>
        </p:spPr>
        <p:txBody>
          <a:bodyPr wrap="square"/>
          <a:lstStyle/>
          <a:p>
            <a:pPr algn="r"/>
            <a:r>
              <a:rPr sz="1000" b="0">
                <a:solidFill>
                  <a:srgbClr val="CADCFC"/>
                </a:solidFill>
                <a:latin typeface="Calibri"/>
              </a:rPr>
              <a:t>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F"/>
        </a:solidFill>
        <a:effectLst/>
      </p:bgPr>
    </p:bg>
    <p:spTree>
      <p:nvGrpSpPr>
        <p:cNvPr id="1" name=""/>
        <p:cNvGrpSpPr/>
        <p:nvPr/>
      </p:nvGrpSpPr>
      <p:grpSpPr/>
      <p:sp>
        <p:nvSpPr>
          <p:cNvPr id="2" name="Rectangle 1"/>
          <p:cNvSpPr/>
          <p:nvPr/>
        </p:nvSpPr>
        <p:spPr>
          <a:xfrm>
            <a:off x="0" y="0"/>
            <a:ext cx="109728"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56032"/>
            <a:ext cx="8321040" cy="658368"/>
          </a:xfrm>
          <a:prstGeom prst="rect">
            <a:avLst/>
          </a:prstGeom>
          <a:noFill/>
        </p:spPr>
        <p:txBody>
          <a:bodyPr wrap="square"/>
          <a:lstStyle/>
          <a:p>
            <a:pPr algn="l"/>
            <a:r>
              <a:rPr sz="2800" b="1">
                <a:solidFill>
                  <a:srgbClr val="FFFFFF"/>
                </a:solidFill>
                <a:latin typeface="Calibri"/>
              </a:rPr>
              <a:t>In-Memory Session Memory Tradeoff</a:t>
            </a:r>
          </a:p>
        </p:txBody>
      </p:sp>
      <p:sp>
        <p:nvSpPr>
          <p:cNvPr id="5" name="TextBox 4"/>
          <p:cNvSpPr txBox="1"/>
          <p:nvPr/>
        </p:nvSpPr>
        <p:spPr>
          <a:xfrm>
            <a:off x="8503920" y="182880"/>
            <a:ext cx="457200" cy="548640"/>
          </a:xfrm>
          <a:prstGeom prst="rect">
            <a:avLst/>
          </a:prstGeom>
          <a:noFill/>
        </p:spPr>
        <p:txBody>
          <a:bodyPr wrap="square"/>
          <a:lstStyle/>
          <a:p>
            <a:pPr algn="ctr"/>
            <a:r>
              <a:rPr sz="2200" b="1">
                <a:solidFill>
                  <a:srgbClr val="CADCFC"/>
                </a:solidFill>
                <a:latin typeface="Calibri"/>
              </a:rPr>
              <a:t>1</a:t>
            </a:r>
          </a:p>
        </p:txBody>
      </p:sp>
      <p:sp>
        <p:nvSpPr>
          <p:cNvPr id="6" name="TextBox 5"/>
          <p:cNvSpPr txBox="1"/>
          <p:nvPr/>
        </p:nvSpPr>
        <p:spPr>
          <a:xfrm>
            <a:off x="594360" y="1051560"/>
            <a:ext cx="8321040" cy="3611880"/>
          </a:xfrm>
          <a:prstGeom prst="rect">
            <a:avLst/>
          </a:prstGeom>
          <a:noFill/>
        </p:spPr>
        <p:txBody>
          <a:bodyPr wrap="square">
            <a:spAutoFit/>
          </a:bodyPr>
          <a:lstStyle/>
          <a:p>
            <a:pPr>
              <a:buChar char="▸"/>
              <a:buFont typeface="Arial"/>
              <a:spcBef>
                <a:spcPts val="160"/>
              </a:spcBef>
            </a:pPr>
            <a:r>
              <a:rPr sz="2000">
                <a:solidFill>
                  <a:srgbClr val="1A1A2E"/>
                </a:solidFill>
                <a:latin typeface="Calibri"/>
              </a:rPr>
              <a:t>内存保存需求记忆需按会话标识做 BFF→GenSlide 粘性路由</a:t>
            </a:r>
          </a:p>
          <a:p>
            <a:pPr>
              <a:buChar char="▸"/>
              <a:buFont typeface="Arial"/>
              <a:spcBef>
                <a:spcPts val="160"/>
              </a:spcBef>
            </a:pPr>
            <a:r>
              <a:rPr sz="2000">
                <a:solidFill>
                  <a:srgbClr val="1A1A2E"/>
                </a:solidFill>
                <a:latin typeface="Calibri"/>
              </a:rPr>
              <a:t>同一 Pod 内需保持单 ASGI 进程，多 Worker 内存不共享</a:t>
            </a:r>
          </a:p>
          <a:p>
            <a:pPr>
              <a:buChar char="▸"/>
              <a:buFont typeface="Arial"/>
              <a:spcBef>
                <a:spcPts val="160"/>
              </a:spcBef>
            </a:pPr>
            <a:r>
              <a:rPr sz="2000">
                <a:solidFill>
                  <a:srgbClr val="1A1A2E"/>
                </a:solidFill>
                <a:latin typeface="Calibri"/>
              </a:rPr>
              <a:t>重启、故障或路由变化后记忆丢失，会话亲和无法恢复</a:t>
            </a:r>
          </a:p>
          <a:p>
            <a:pPr>
              <a:buChar char="▸"/>
              <a:buFont typeface="Arial"/>
              <a:spcBef>
                <a:spcPts val="160"/>
              </a:spcBef>
            </a:pPr>
            <a:r>
              <a:rPr sz="2000">
                <a:solidFill>
                  <a:srgbClr val="1A1A2E"/>
                </a:solidFill>
                <a:latin typeface="Calibri"/>
              </a:rPr>
              <a:t>执行授权、幂等、会话版本与生成文件仍由 BFF 保存</a:t>
            </a:r>
          </a:p>
          <a:p>
            <a:pPr>
              <a:buChar char="▸"/>
              <a:buFont typeface="Arial"/>
              <a:spcBef>
                <a:spcPts val="160"/>
              </a:spcBef>
            </a:pPr>
            <a:r>
              <a:rPr sz="2000">
                <a:solidFill>
                  <a:srgbClr val="1A1A2E"/>
                </a:solidFill>
                <a:latin typeface="Calibri"/>
              </a:rPr>
              <a:t>设 4 小时空闲清理与容量上限，失效时提示重新确认需求</a:t>
            </a:r>
          </a:p>
        </p:txBody>
      </p:sp>
      <p:sp>
        <p:nvSpPr>
          <p:cNvPr id="7" name="Rectangle 6"/>
          <p:cNvSpPr/>
          <p:nvPr/>
        </p:nvSpPr>
        <p:spPr>
          <a:xfrm>
            <a:off x="0" y="4709160"/>
            <a:ext cx="9144000" cy="3200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4709160"/>
            <a:ext cx="5486400" cy="320040"/>
          </a:xfrm>
          <a:prstGeom prst="rect">
            <a:avLst/>
          </a:prstGeom>
          <a:noFill/>
        </p:spPr>
        <p:txBody>
          <a:bodyPr wrap="square"/>
          <a:lstStyle/>
          <a:p>
            <a:pPr algn="l"/>
            <a:r>
              <a:rPr sz="900" b="0">
                <a:solidFill>
                  <a:srgbClr val="CADCFC"/>
                </a:solidFill>
                <a:latin typeface="Calibri"/>
              </a:rPr>
              <a:t>In-Memory Session Memory Tradeoff</a:t>
            </a:r>
          </a:p>
        </p:txBody>
      </p:sp>
      <p:sp>
        <p:nvSpPr>
          <p:cNvPr id="9" name="TextBox 8"/>
          <p:cNvSpPr txBox="1"/>
          <p:nvPr/>
        </p:nvSpPr>
        <p:spPr>
          <a:xfrm>
            <a:off x="7772400" y="4709160"/>
            <a:ext cx="1188720" cy="320040"/>
          </a:xfrm>
          <a:prstGeom prst="rect">
            <a:avLst/>
          </a:prstGeom>
          <a:noFill/>
        </p:spPr>
        <p:txBody>
          <a:bodyPr wrap="square"/>
          <a:lstStyle/>
          <a:p>
            <a:pPr algn="r"/>
            <a:r>
              <a:rPr sz="900" b="0">
                <a:solidFill>
                  <a:srgbClr val="CADCFC"/>
                </a:solidFill>
                <a:latin typeface="Calibri"/>
              </a:rPr>
              <a:t>1 / 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F"/>
        </a:solidFill>
        <a:effectLst/>
      </p:bgPr>
    </p:bg>
    <p:spTree>
      <p:nvGrpSpPr>
        <p:cNvPr id="1" name=""/>
        <p:cNvGrpSpPr/>
        <p:nvPr/>
      </p:nvGrpSpPr>
      <p:grpSpPr/>
      <p:sp>
        <p:nvSpPr>
          <p:cNvPr id="2" name="Rectangle 1"/>
          <p:cNvSpPr/>
          <p:nvPr/>
        </p:nvSpPr>
        <p:spPr>
          <a:xfrm>
            <a:off x="0" y="0"/>
            <a:ext cx="109728"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56032"/>
            <a:ext cx="8321040" cy="658368"/>
          </a:xfrm>
          <a:prstGeom prst="rect">
            <a:avLst/>
          </a:prstGeom>
          <a:noFill/>
        </p:spPr>
        <p:txBody>
          <a:bodyPr wrap="square"/>
          <a:lstStyle/>
          <a:p>
            <a:pPr algn="l"/>
            <a:r>
              <a:rPr sz="2800" b="1">
                <a:solidFill>
                  <a:srgbClr val="FFFFFF"/>
                </a:solidFill>
                <a:latin typeface="Calibri"/>
              </a:rPr>
              <a:t>Routing Must Pin Same GenSlide Instance</a:t>
            </a:r>
          </a:p>
        </p:txBody>
      </p:sp>
      <p:sp>
        <p:nvSpPr>
          <p:cNvPr id="5" name="TextBox 4"/>
          <p:cNvSpPr txBox="1"/>
          <p:nvPr/>
        </p:nvSpPr>
        <p:spPr>
          <a:xfrm>
            <a:off x="8503920" y="182880"/>
            <a:ext cx="457200" cy="548640"/>
          </a:xfrm>
          <a:prstGeom prst="rect">
            <a:avLst/>
          </a:prstGeom>
          <a:noFill/>
        </p:spPr>
        <p:txBody>
          <a:bodyPr wrap="square"/>
          <a:lstStyle/>
          <a:p>
            <a:pPr algn="ctr"/>
            <a:r>
              <a:rPr sz="2200" b="1">
                <a:solidFill>
                  <a:srgbClr val="CADCFC"/>
                </a:solidFill>
                <a:latin typeface="Calibri"/>
              </a:rPr>
              <a:t>2</a:t>
            </a:r>
          </a:p>
        </p:txBody>
      </p:sp>
      <p:sp>
        <p:nvSpPr>
          <p:cNvPr id="6" name="TextBox 5"/>
          <p:cNvSpPr txBox="1"/>
          <p:nvPr/>
        </p:nvSpPr>
        <p:spPr>
          <a:xfrm>
            <a:off x="594360" y="1051560"/>
            <a:ext cx="8321040" cy="3611880"/>
          </a:xfrm>
          <a:prstGeom prst="rect">
            <a:avLst/>
          </a:prstGeom>
          <a:noFill/>
        </p:spPr>
        <p:txBody>
          <a:bodyPr wrap="square">
            <a:spAutoFit/>
          </a:bodyPr>
          <a:lstStyle/>
          <a:p>
            <a:pPr>
              <a:buChar char="▸"/>
              <a:buFont typeface="Arial"/>
              <a:spcBef>
                <a:spcPts val="160"/>
              </a:spcBef>
            </a:pPr>
            <a:r>
              <a:rPr sz="2000">
                <a:solidFill>
                  <a:srgbClr val="1A1A2E"/>
                </a:solidFill>
                <a:latin typeface="Calibri"/>
              </a:rPr>
              <a:t>Session stickiness lets requirement memory live in GenSlide process memory</a:t>
            </a:r>
          </a:p>
          <a:p>
            <a:pPr>
              <a:buChar char="▸"/>
              <a:buFont typeface="Arial"/>
              <a:spcBef>
                <a:spcPts val="160"/>
              </a:spcBef>
            </a:pPr>
            <a:r>
              <a:rPr sz="2000">
                <a:solidFill>
                  <a:srgbClr val="1A1A2E"/>
                </a:solidFill>
                <a:latin typeface="Calibri"/>
              </a:rPr>
              <a:t>Route by session identifier, not by user or browser login alone</a:t>
            </a:r>
          </a:p>
          <a:p>
            <a:pPr>
              <a:buChar char="▸"/>
              <a:buFont typeface="Arial"/>
              <a:spcBef>
                <a:spcPts val="160"/>
              </a:spcBef>
            </a:pPr>
            <a:r>
              <a:rPr sz="2000">
                <a:solidFill>
                  <a:srgbClr val="1A1A2E"/>
                </a:solidFill>
                <a:latin typeface="Calibri"/>
              </a:rPr>
              <a:t>Keep one ASGI process per Pod; separate workers do not share memory</a:t>
            </a:r>
          </a:p>
          <a:p>
            <a:pPr>
              <a:buChar char="▸"/>
              <a:buFont typeface="Arial"/>
              <a:spcBef>
                <a:spcPts val="160"/>
              </a:spcBef>
            </a:pPr>
            <a:r>
              <a:rPr sz="2000">
                <a:solidFill>
                  <a:srgbClr val="1A1A2E"/>
                </a:solidFill>
                <a:latin typeface="Calibri"/>
              </a:rPr>
              <a:t>Kubernetes ClientIP affinity matches source IP, not business session_id</a:t>
            </a:r>
          </a:p>
          <a:p>
            <a:pPr>
              <a:buChar char="▸"/>
              <a:buFont typeface="Arial"/>
              <a:spcBef>
                <a:spcPts val="160"/>
              </a:spcBef>
            </a:pPr>
            <a:r>
              <a:rPr sz="2000">
                <a:solidFill>
                  <a:srgbClr val="1A1A2E"/>
                </a:solidFill>
                <a:latin typeface="Calibri"/>
              </a:rPr>
              <a:t>Accept memory loss on restart; otherwise retain BFF snapshot persistence</a:t>
            </a:r>
          </a:p>
        </p:txBody>
      </p:sp>
      <p:sp>
        <p:nvSpPr>
          <p:cNvPr id="7" name="Rectangle 6"/>
          <p:cNvSpPr/>
          <p:nvPr/>
        </p:nvSpPr>
        <p:spPr>
          <a:xfrm>
            <a:off x="0" y="4709160"/>
            <a:ext cx="9144000" cy="3200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4709160"/>
            <a:ext cx="5486400" cy="320040"/>
          </a:xfrm>
          <a:prstGeom prst="rect">
            <a:avLst/>
          </a:prstGeom>
          <a:noFill/>
        </p:spPr>
        <p:txBody>
          <a:bodyPr wrap="square"/>
          <a:lstStyle/>
          <a:p>
            <a:pPr algn="l"/>
            <a:r>
              <a:rPr sz="900" b="0">
                <a:solidFill>
                  <a:srgbClr val="CADCFC"/>
                </a:solidFill>
                <a:latin typeface="Calibri"/>
              </a:rPr>
              <a:t>In-Memory Session Memory Tradeoff</a:t>
            </a:r>
          </a:p>
        </p:txBody>
      </p:sp>
      <p:sp>
        <p:nvSpPr>
          <p:cNvPr id="9" name="TextBox 8"/>
          <p:cNvSpPr txBox="1"/>
          <p:nvPr/>
        </p:nvSpPr>
        <p:spPr>
          <a:xfrm>
            <a:off x="7772400" y="4709160"/>
            <a:ext cx="1188720" cy="320040"/>
          </a:xfrm>
          <a:prstGeom prst="rect">
            <a:avLst/>
          </a:prstGeom>
          <a:noFill/>
        </p:spPr>
        <p:txBody>
          <a:bodyPr wrap="square"/>
          <a:lstStyle/>
          <a:p>
            <a:pPr algn="r"/>
            <a:r>
              <a:rPr sz="900" b="0">
                <a:solidFill>
                  <a:srgbClr val="CADCFC"/>
                </a:solidFill>
                <a:latin typeface="Calibri"/>
              </a:rPr>
              <a:t>2 / 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F"/>
        </a:solidFill>
        <a:effectLst/>
      </p:bgPr>
    </p:bg>
    <p:spTree>
      <p:nvGrpSpPr>
        <p:cNvPr id="1" name=""/>
        <p:cNvGrpSpPr/>
        <p:nvPr/>
      </p:nvGrpSpPr>
      <p:grpSpPr/>
      <p:sp>
        <p:nvSpPr>
          <p:cNvPr id="2" name="Rectangle 1"/>
          <p:cNvSpPr/>
          <p:nvPr/>
        </p:nvSpPr>
        <p:spPr>
          <a:xfrm>
            <a:off x="0" y="0"/>
            <a:ext cx="109728"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56032"/>
            <a:ext cx="8321040" cy="658368"/>
          </a:xfrm>
          <a:prstGeom prst="rect">
            <a:avLst/>
          </a:prstGeom>
          <a:noFill/>
        </p:spPr>
        <p:txBody>
          <a:bodyPr wrap="square"/>
          <a:lstStyle/>
          <a:p>
            <a:pPr algn="l"/>
            <a:r>
              <a:rPr sz="2800" b="1">
                <a:solidFill>
                  <a:srgbClr val="FFFFFF"/>
                </a:solidFill>
                <a:latin typeface="Calibri"/>
              </a:rPr>
              <a:t>Process-Level Memory Within Pod</a:t>
            </a:r>
          </a:p>
        </p:txBody>
      </p:sp>
      <p:sp>
        <p:nvSpPr>
          <p:cNvPr id="5" name="TextBox 4"/>
          <p:cNvSpPr txBox="1"/>
          <p:nvPr/>
        </p:nvSpPr>
        <p:spPr>
          <a:xfrm>
            <a:off x="8503920" y="182880"/>
            <a:ext cx="457200" cy="548640"/>
          </a:xfrm>
          <a:prstGeom prst="rect">
            <a:avLst/>
          </a:prstGeom>
          <a:noFill/>
        </p:spPr>
        <p:txBody>
          <a:bodyPr wrap="square"/>
          <a:lstStyle/>
          <a:p>
            <a:pPr algn="ctr"/>
            <a:r>
              <a:rPr sz="2200" b="1">
                <a:solidFill>
                  <a:srgbClr val="CADCFC"/>
                </a:solidFill>
                <a:latin typeface="Calibri"/>
              </a:rPr>
              <a:t>3</a:t>
            </a:r>
          </a:p>
        </p:txBody>
      </p:sp>
      <p:sp>
        <p:nvSpPr>
          <p:cNvPr id="6" name="TextBox 5"/>
          <p:cNvSpPr txBox="1"/>
          <p:nvPr/>
        </p:nvSpPr>
        <p:spPr>
          <a:xfrm>
            <a:off x="594360" y="1051560"/>
            <a:ext cx="8321040" cy="3611880"/>
          </a:xfrm>
          <a:prstGeom prst="rect">
            <a:avLst/>
          </a:prstGeom>
          <a:noFill/>
        </p:spPr>
        <p:txBody>
          <a:bodyPr wrap="square">
            <a:spAutoFit/>
          </a:bodyPr>
          <a:lstStyle/>
          <a:p>
            <a:pPr>
              <a:buChar char="▸"/>
              <a:buFont typeface="Arial"/>
              <a:spcBef>
                <a:spcPts val="160"/>
              </a:spcBef>
            </a:pPr>
            <a:r>
              <a:rPr sz="2000">
                <a:solidFill>
                  <a:srgbClr val="1A1A2E"/>
                </a:solidFill>
                <a:latin typeface="Calibri"/>
              </a:rPr>
              <a:t>Session affinity must route BFF requests to the same GenSlide pod by session_id</a:t>
            </a:r>
          </a:p>
          <a:p>
            <a:pPr>
              <a:buChar char="▸"/>
              <a:buFont typeface="Arial"/>
              <a:spcBef>
                <a:spcPts val="160"/>
              </a:spcBef>
            </a:pPr>
            <a:r>
              <a:rPr sz="2000">
                <a:solidFill>
                  <a:srgbClr val="1A1A2E"/>
                </a:solidFill>
                <a:latin typeface="Calibri"/>
              </a:rPr>
              <a:t>Keep one ASGI process per pod; separate Python workers do not share memory</a:t>
            </a:r>
          </a:p>
          <a:p>
            <a:pPr>
              <a:buChar char="▸"/>
              <a:buFont typeface="Arial"/>
              <a:spcBef>
                <a:spcPts val="160"/>
              </a:spcBef>
            </a:pPr>
            <a:r>
              <a:rPr sz="2000">
                <a:solidFill>
                  <a:srgbClr val="1A1A2E"/>
                </a:solidFill>
                <a:latin typeface="Calibri"/>
              </a:rPr>
              <a:t>Kubernetes ClientIP affinity keys on source IP, not business session_id — unsuitable here</a:t>
            </a:r>
          </a:p>
          <a:p>
            <a:pPr>
              <a:buChar char="▸"/>
              <a:buFont typeface="Arial"/>
              <a:spcBef>
                <a:spcPts val="160"/>
              </a:spcBef>
            </a:pPr>
            <a:r>
              <a:rPr sz="2000">
                <a:solidFill>
                  <a:srgbClr val="1A1A2E"/>
                </a:solidFill>
                <a:latin typeface="Calibri"/>
              </a:rPr>
              <a:t>Restarts, failures, or routing changes lose requirement memory; BFF still holds files and auth</a:t>
            </a:r>
          </a:p>
          <a:p>
            <a:pPr>
              <a:buChar char="▸"/>
              <a:buFont typeface="Arial"/>
              <a:spcBef>
                <a:spcPts val="160"/>
              </a:spcBef>
            </a:pPr>
            <a:r>
              <a:rPr sz="2000">
                <a:solidFill>
                  <a:srgbClr val="1A1A2E"/>
                </a:solidFill>
                <a:latin typeface="Calibri"/>
              </a:rPr>
              <a:t>Bind memory to full identity, with 4-hour idle cleanup and per-session and total size caps</a:t>
            </a:r>
          </a:p>
        </p:txBody>
      </p:sp>
      <p:sp>
        <p:nvSpPr>
          <p:cNvPr id="7" name="Rectangle 6"/>
          <p:cNvSpPr/>
          <p:nvPr/>
        </p:nvSpPr>
        <p:spPr>
          <a:xfrm>
            <a:off x="0" y="4709160"/>
            <a:ext cx="9144000" cy="3200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4709160"/>
            <a:ext cx="5486400" cy="320040"/>
          </a:xfrm>
          <a:prstGeom prst="rect">
            <a:avLst/>
          </a:prstGeom>
          <a:noFill/>
        </p:spPr>
        <p:txBody>
          <a:bodyPr wrap="square"/>
          <a:lstStyle/>
          <a:p>
            <a:pPr algn="l"/>
            <a:r>
              <a:rPr sz="900" b="0">
                <a:solidFill>
                  <a:srgbClr val="CADCFC"/>
                </a:solidFill>
                <a:latin typeface="Calibri"/>
              </a:rPr>
              <a:t>In-Memory Session Memory Tradeoff</a:t>
            </a:r>
          </a:p>
        </p:txBody>
      </p:sp>
      <p:sp>
        <p:nvSpPr>
          <p:cNvPr id="9" name="TextBox 8"/>
          <p:cNvSpPr txBox="1"/>
          <p:nvPr/>
        </p:nvSpPr>
        <p:spPr>
          <a:xfrm>
            <a:off x="7772400" y="4709160"/>
            <a:ext cx="1188720" cy="320040"/>
          </a:xfrm>
          <a:prstGeom prst="rect">
            <a:avLst/>
          </a:prstGeom>
          <a:noFill/>
        </p:spPr>
        <p:txBody>
          <a:bodyPr wrap="square"/>
          <a:lstStyle/>
          <a:p>
            <a:pPr algn="r"/>
            <a:r>
              <a:rPr sz="900" b="0">
                <a:solidFill>
                  <a:srgbClr val="CADCFC"/>
                </a:solidFill>
                <a:latin typeface="Calibri"/>
              </a:rPr>
              <a:t>3 / 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F"/>
        </a:solidFill>
        <a:effectLst/>
      </p:bgPr>
    </p:bg>
    <p:spTree>
      <p:nvGrpSpPr>
        <p:cNvPr id="1" name=""/>
        <p:cNvGrpSpPr/>
        <p:nvPr/>
      </p:nvGrpSpPr>
      <p:grpSpPr/>
      <p:sp>
        <p:nvSpPr>
          <p:cNvPr id="2" name="Rectangle 1"/>
          <p:cNvSpPr/>
          <p:nvPr/>
        </p:nvSpPr>
        <p:spPr>
          <a:xfrm>
            <a:off x="0" y="0"/>
            <a:ext cx="109728"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56032"/>
            <a:ext cx="8321040" cy="658368"/>
          </a:xfrm>
          <a:prstGeom prst="rect">
            <a:avLst/>
          </a:prstGeom>
          <a:noFill/>
        </p:spPr>
        <p:txBody>
          <a:bodyPr wrap="square"/>
          <a:lstStyle/>
          <a:p>
            <a:pPr algn="l"/>
            <a:r>
              <a:rPr sz="2800" b="1">
                <a:solidFill>
                  <a:srgbClr val="FFFFFF"/>
                </a:solidFill>
                <a:latin typeface="Calibri"/>
              </a:rPr>
              <a:t>Accept Memory Loss After Restart</a:t>
            </a:r>
          </a:p>
        </p:txBody>
      </p:sp>
      <p:sp>
        <p:nvSpPr>
          <p:cNvPr id="5" name="TextBox 4"/>
          <p:cNvSpPr txBox="1"/>
          <p:nvPr/>
        </p:nvSpPr>
        <p:spPr>
          <a:xfrm>
            <a:off x="8503920" y="182880"/>
            <a:ext cx="457200" cy="548640"/>
          </a:xfrm>
          <a:prstGeom prst="rect">
            <a:avLst/>
          </a:prstGeom>
          <a:noFill/>
        </p:spPr>
        <p:txBody>
          <a:bodyPr wrap="square"/>
          <a:lstStyle/>
          <a:p>
            <a:pPr algn="ctr"/>
            <a:r>
              <a:rPr sz="2200" b="1">
                <a:solidFill>
                  <a:srgbClr val="CADCFC"/>
                </a:solidFill>
                <a:latin typeface="Calibri"/>
              </a:rPr>
              <a:t>4</a:t>
            </a:r>
          </a:p>
        </p:txBody>
      </p:sp>
      <p:sp>
        <p:nvSpPr>
          <p:cNvPr id="6" name="TextBox 5"/>
          <p:cNvSpPr txBox="1"/>
          <p:nvPr/>
        </p:nvSpPr>
        <p:spPr>
          <a:xfrm>
            <a:off x="594360" y="1051560"/>
            <a:ext cx="8321040" cy="3611880"/>
          </a:xfrm>
          <a:prstGeom prst="rect">
            <a:avLst/>
          </a:prstGeom>
          <a:noFill/>
        </p:spPr>
        <p:txBody>
          <a:bodyPr wrap="square">
            <a:spAutoFit/>
          </a:bodyPr>
          <a:lstStyle/>
          <a:p>
            <a:pPr>
              <a:buChar char="▸"/>
              <a:buFont typeface="Arial"/>
              <a:spcBef>
                <a:spcPts val="160"/>
              </a:spcBef>
            </a:pPr>
            <a:r>
              <a:rPr sz="2000">
                <a:solidFill>
                  <a:srgbClr val="1A1A2E"/>
                </a:solidFill>
                <a:latin typeface="Calibri"/>
              </a:rPr>
              <a:t>Session affinity only preserves BFF-to-GenSlide routing, not memory contents</a:t>
            </a:r>
          </a:p>
          <a:p>
            <a:pPr>
              <a:buChar char="▸"/>
              <a:buFont typeface="Arial"/>
              <a:spcBef>
                <a:spcPts val="160"/>
              </a:spcBef>
            </a:pPr>
            <a:r>
              <a:rPr sz="2000">
                <a:solidFill>
                  <a:srgbClr val="1A1A2E"/>
                </a:solidFill>
                <a:latin typeface="Calibri"/>
              </a:rPr>
              <a:t>Route by session identifier, not user or ClientIP; keep one ASGI process per Pod</a:t>
            </a:r>
          </a:p>
          <a:p>
            <a:pPr>
              <a:buChar char="▸"/>
              <a:buFont typeface="Arial"/>
              <a:spcBef>
                <a:spcPts val="160"/>
              </a:spcBef>
            </a:pPr>
            <a:r>
              <a:rPr sz="2000">
                <a:solidFill>
                  <a:srgbClr val="1A1A2E"/>
                </a:solidFill>
                <a:latin typeface="Calibri"/>
              </a:rPr>
              <a:t>Requirement memory lives in GenSlide memory; BFF keeps authorization, versions, idempotency, files</a:t>
            </a:r>
          </a:p>
          <a:p>
            <a:pPr>
              <a:buChar char="▸"/>
              <a:buFont typeface="Arial"/>
              <a:spcBef>
                <a:spcPts val="160"/>
              </a:spcBef>
            </a:pPr>
            <a:r>
              <a:rPr sz="2000">
                <a:solidFill>
                  <a:srgbClr val="1A1A2E"/>
                </a:solidFill>
                <a:latin typeface="Calibri"/>
              </a:rPr>
              <a:t>Bind memory to full identity; enforce 4-hour idle cleanup and size limits</a:t>
            </a:r>
          </a:p>
          <a:p>
            <a:pPr>
              <a:buChar char="▸"/>
              <a:buFont typeface="Arial"/>
              <a:spcBef>
                <a:spcPts val="160"/>
              </a:spcBef>
            </a:pPr>
            <a:r>
              <a:rPr sz="2000">
                <a:solidFill>
                  <a:srgbClr val="1A1A2E"/>
                </a:solidFill>
                <a:latin typeface="Calibri"/>
              </a:rPr>
              <a:t>On memory loss, tell users the requirement context expired and ask them to reconfirm</a:t>
            </a:r>
          </a:p>
        </p:txBody>
      </p:sp>
      <p:sp>
        <p:nvSpPr>
          <p:cNvPr id="7" name="Rectangle 6"/>
          <p:cNvSpPr/>
          <p:nvPr/>
        </p:nvSpPr>
        <p:spPr>
          <a:xfrm>
            <a:off x="0" y="4709160"/>
            <a:ext cx="9144000" cy="3200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4709160"/>
            <a:ext cx="5486400" cy="320040"/>
          </a:xfrm>
          <a:prstGeom prst="rect">
            <a:avLst/>
          </a:prstGeom>
          <a:noFill/>
        </p:spPr>
        <p:txBody>
          <a:bodyPr wrap="square"/>
          <a:lstStyle/>
          <a:p>
            <a:pPr algn="l"/>
            <a:r>
              <a:rPr sz="900" b="0">
                <a:solidFill>
                  <a:srgbClr val="CADCFC"/>
                </a:solidFill>
                <a:latin typeface="Calibri"/>
              </a:rPr>
              <a:t>In-Memory Session Memory Tradeoff</a:t>
            </a:r>
          </a:p>
        </p:txBody>
      </p:sp>
      <p:sp>
        <p:nvSpPr>
          <p:cNvPr id="9" name="TextBox 8"/>
          <p:cNvSpPr txBox="1"/>
          <p:nvPr/>
        </p:nvSpPr>
        <p:spPr>
          <a:xfrm>
            <a:off x="7772400" y="4709160"/>
            <a:ext cx="1188720" cy="320040"/>
          </a:xfrm>
          <a:prstGeom prst="rect">
            <a:avLst/>
          </a:prstGeom>
          <a:noFill/>
        </p:spPr>
        <p:txBody>
          <a:bodyPr wrap="square"/>
          <a:lstStyle/>
          <a:p>
            <a:pPr algn="r"/>
            <a:r>
              <a:rPr sz="900" b="0">
                <a:solidFill>
                  <a:srgbClr val="CADCFC"/>
                </a:solidFill>
                <a:latin typeface="Calibri"/>
              </a:rPr>
              <a:t>4 / 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F"/>
        </a:solidFill>
        <a:effectLst/>
      </p:bgPr>
    </p:bg>
    <p:spTree>
      <p:nvGrpSpPr>
        <p:cNvPr id="1" name=""/>
        <p:cNvGrpSpPr/>
        <p:nvPr/>
      </p:nvGrpSpPr>
      <p:grpSpPr/>
      <p:sp>
        <p:nvSpPr>
          <p:cNvPr id="2" name="Rectangle 1"/>
          <p:cNvSpPr/>
          <p:nvPr/>
        </p:nvSpPr>
        <p:spPr>
          <a:xfrm>
            <a:off x="0" y="0"/>
            <a:ext cx="109728"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56032"/>
            <a:ext cx="8321040" cy="658368"/>
          </a:xfrm>
          <a:prstGeom prst="rect">
            <a:avLst/>
          </a:prstGeom>
          <a:noFill/>
        </p:spPr>
        <p:txBody>
          <a:bodyPr wrap="square"/>
          <a:lstStyle/>
          <a:p>
            <a:pPr algn="l"/>
            <a:r>
              <a:rPr sz="2800" b="1">
                <a:solidFill>
                  <a:srgbClr val="FFFFFF"/>
                </a:solidFill>
                <a:latin typeface="Calibri"/>
              </a:rPr>
              <a:t>Beware Kubernetes ClientIP Affinity</a:t>
            </a:r>
          </a:p>
        </p:txBody>
      </p:sp>
      <p:sp>
        <p:nvSpPr>
          <p:cNvPr id="5" name="TextBox 4"/>
          <p:cNvSpPr txBox="1"/>
          <p:nvPr/>
        </p:nvSpPr>
        <p:spPr>
          <a:xfrm>
            <a:off x="8503920" y="182880"/>
            <a:ext cx="457200" cy="548640"/>
          </a:xfrm>
          <a:prstGeom prst="rect">
            <a:avLst/>
          </a:prstGeom>
          <a:noFill/>
        </p:spPr>
        <p:txBody>
          <a:bodyPr wrap="square"/>
          <a:lstStyle/>
          <a:p>
            <a:pPr algn="ctr"/>
            <a:r>
              <a:rPr sz="2200" b="1">
                <a:solidFill>
                  <a:srgbClr val="CADCFC"/>
                </a:solidFill>
                <a:latin typeface="Calibri"/>
              </a:rPr>
              <a:t>5</a:t>
            </a:r>
          </a:p>
        </p:txBody>
      </p:sp>
      <p:sp>
        <p:nvSpPr>
          <p:cNvPr id="6" name="TextBox 5"/>
          <p:cNvSpPr txBox="1"/>
          <p:nvPr/>
        </p:nvSpPr>
        <p:spPr>
          <a:xfrm>
            <a:off x="594360" y="1051560"/>
            <a:ext cx="8321040" cy="3611880"/>
          </a:xfrm>
          <a:prstGeom prst="rect">
            <a:avLst/>
          </a:prstGeom>
          <a:noFill/>
        </p:spPr>
        <p:txBody>
          <a:bodyPr wrap="square">
            <a:spAutoFit/>
          </a:bodyPr>
          <a:lstStyle/>
          <a:p>
            <a:pPr>
              <a:buChar char="▸"/>
              <a:buFont typeface="Arial"/>
              <a:spcBef>
                <a:spcPts val="160"/>
              </a:spcBef>
            </a:pPr>
            <a:r>
              <a:rPr sz="2000">
                <a:solidFill>
                  <a:srgbClr val="1A1A2E"/>
                </a:solidFill>
                <a:latin typeface="Calibri"/>
              </a:rPr>
              <a:t>ClientIP affinity routes by source IP, not by business session_id</a:t>
            </a:r>
          </a:p>
          <a:p>
            <a:pPr>
              <a:buChar char="▸"/>
              <a:buFont typeface="Arial"/>
              <a:spcBef>
                <a:spcPts val="160"/>
              </a:spcBef>
            </a:pPr>
            <a:r>
              <a:rPr sz="2000">
                <a:solidFill>
                  <a:srgbClr val="1A1A2E"/>
                </a:solidFill>
                <a:latin typeface="Calibri"/>
              </a:rPr>
              <a:t>Behind BFF forwarding, many users may collapse onto a single Pod</a:t>
            </a:r>
          </a:p>
          <a:p>
            <a:pPr>
              <a:buChar char="▸"/>
              <a:buFont typeface="Arial"/>
              <a:spcBef>
                <a:spcPts val="160"/>
              </a:spcBef>
            </a:pPr>
            <a:r>
              <a:rPr sz="2000">
                <a:solidFill>
                  <a:srgbClr val="1A1A2E"/>
                </a:solidFill>
                <a:latin typeface="Calibri"/>
              </a:rPr>
              <a:t>Affinity only routes traffic; it never preserves in-memory requirement state</a:t>
            </a:r>
          </a:p>
          <a:p>
            <a:pPr>
              <a:buChar char="▸"/>
              <a:buFont typeface="Arial"/>
              <a:spcBef>
                <a:spcPts val="160"/>
              </a:spcBef>
            </a:pPr>
            <a:r>
              <a:rPr sz="2000">
                <a:solidFill>
                  <a:srgbClr val="1A1A2E"/>
                </a:solidFill>
                <a:latin typeface="Calibri"/>
              </a:rPr>
              <a:t>Pod restarts or replacements lose memory; users must reconfirm requirements</a:t>
            </a:r>
          </a:p>
          <a:p>
            <a:pPr>
              <a:buChar char="▸"/>
              <a:buFont typeface="Arial"/>
              <a:spcBef>
                <a:spcPts val="160"/>
              </a:spcBef>
            </a:pPr>
            <a:r>
              <a:rPr sz="2000">
                <a:solidFill>
                  <a:srgbClr val="1A1A2E"/>
                </a:solidFill>
                <a:latin typeface="Calibri"/>
              </a:rPr>
              <a:t>BFF still owns authorization, session version, idempotency, files, and download records</a:t>
            </a:r>
          </a:p>
        </p:txBody>
      </p:sp>
      <p:sp>
        <p:nvSpPr>
          <p:cNvPr id="7" name="Rectangle 6"/>
          <p:cNvSpPr/>
          <p:nvPr/>
        </p:nvSpPr>
        <p:spPr>
          <a:xfrm>
            <a:off x="0" y="4709160"/>
            <a:ext cx="9144000" cy="3200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4709160"/>
            <a:ext cx="5486400" cy="320040"/>
          </a:xfrm>
          <a:prstGeom prst="rect">
            <a:avLst/>
          </a:prstGeom>
          <a:noFill/>
        </p:spPr>
        <p:txBody>
          <a:bodyPr wrap="square"/>
          <a:lstStyle/>
          <a:p>
            <a:pPr algn="l"/>
            <a:r>
              <a:rPr sz="900" b="0">
                <a:solidFill>
                  <a:srgbClr val="CADCFC"/>
                </a:solidFill>
                <a:latin typeface="Calibri"/>
              </a:rPr>
              <a:t>In-Memory Session Memory Tradeoff</a:t>
            </a:r>
          </a:p>
        </p:txBody>
      </p:sp>
      <p:sp>
        <p:nvSpPr>
          <p:cNvPr id="9" name="TextBox 8"/>
          <p:cNvSpPr txBox="1"/>
          <p:nvPr/>
        </p:nvSpPr>
        <p:spPr>
          <a:xfrm>
            <a:off x="7772400" y="4709160"/>
            <a:ext cx="1188720" cy="320040"/>
          </a:xfrm>
          <a:prstGeom prst="rect">
            <a:avLst/>
          </a:prstGeom>
          <a:noFill/>
        </p:spPr>
        <p:txBody>
          <a:bodyPr wrap="square"/>
          <a:lstStyle/>
          <a:p>
            <a:pPr algn="r"/>
            <a:r>
              <a:rPr sz="900" b="0">
                <a:solidFill>
                  <a:srgbClr val="CADCFC"/>
                </a:solidFill>
                <a:latin typeface="Calibri"/>
              </a:rPr>
              <a:t>5 / 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F"/>
        </a:solidFill>
        <a:effectLst/>
      </p:bgPr>
    </p:bg>
    <p:spTree>
      <p:nvGrpSpPr>
        <p:cNvPr id="1" name=""/>
        <p:cNvGrpSpPr/>
        <p:nvPr/>
      </p:nvGrpSpPr>
      <p:grpSpPr/>
      <p:sp>
        <p:nvSpPr>
          <p:cNvPr id="2" name="Rectangle 1"/>
          <p:cNvSpPr/>
          <p:nvPr/>
        </p:nvSpPr>
        <p:spPr>
          <a:xfrm>
            <a:off x="0" y="0"/>
            <a:ext cx="109728"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56032"/>
            <a:ext cx="8321040" cy="658368"/>
          </a:xfrm>
          <a:prstGeom prst="rect">
            <a:avLst/>
          </a:prstGeom>
          <a:noFill/>
        </p:spPr>
        <p:txBody>
          <a:bodyPr wrap="square"/>
          <a:lstStyle/>
          <a:p>
            <a:pPr algn="l"/>
            <a:r>
              <a:rPr sz="2800" b="1">
                <a:solidFill>
                  <a:srgbClr val="FFFFFF"/>
                </a:solidFill>
                <a:latin typeface="Calibri"/>
              </a:rPr>
              <a:t>State Ownership Split Between Layers</a:t>
            </a:r>
          </a:p>
        </p:txBody>
      </p:sp>
      <p:sp>
        <p:nvSpPr>
          <p:cNvPr id="5" name="TextBox 4"/>
          <p:cNvSpPr txBox="1"/>
          <p:nvPr/>
        </p:nvSpPr>
        <p:spPr>
          <a:xfrm>
            <a:off x="8503920" y="182880"/>
            <a:ext cx="457200" cy="548640"/>
          </a:xfrm>
          <a:prstGeom prst="rect">
            <a:avLst/>
          </a:prstGeom>
          <a:noFill/>
        </p:spPr>
        <p:txBody>
          <a:bodyPr wrap="square"/>
          <a:lstStyle/>
          <a:p>
            <a:pPr algn="ctr"/>
            <a:r>
              <a:rPr sz="2200" b="1">
                <a:solidFill>
                  <a:srgbClr val="CADCFC"/>
                </a:solidFill>
                <a:latin typeface="Calibri"/>
              </a:rPr>
              <a:t>6</a:t>
            </a:r>
          </a:p>
        </p:txBody>
      </p:sp>
      <p:sp>
        <p:nvSpPr>
          <p:cNvPr id="6" name="TextBox 5"/>
          <p:cNvSpPr txBox="1"/>
          <p:nvPr/>
        </p:nvSpPr>
        <p:spPr>
          <a:xfrm>
            <a:off x="594360" y="1051560"/>
            <a:ext cx="8321040" cy="3611880"/>
          </a:xfrm>
          <a:prstGeom prst="rect">
            <a:avLst/>
          </a:prstGeom>
          <a:noFill/>
        </p:spPr>
        <p:txBody>
          <a:bodyPr wrap="square">
            <a:spAutoFit/>
          </a:bodyPr>
          <a:lstStyle/>
          <a:p>
            <a:pPr>
              <a:buChar char="▸"/>
              <a:buFont typeface="Arial"/>
              <a:spcBef>
                <a:spcPts val="160"/>
              </a:spcBef>
            </a:pPr>
            <a:r>
              <a:rPr sz="2000">
                <a:solidFill>
                  <a:srgbClr val="1A1A2E"/>
                </a:solidFill>
                <a:latin typeface="Calibri"/>
              </a:rPr>
              <a:t>会话亲和可让需求记忆留在 GenSlide 内存，BFF 不再保存快照</a:t>
            </a:r>
          </a:p>
          <a:p>
            <a:pPr>
              <a:buChar char="▸"/>
              <a:buFont typeface="Arial"/>
              <a:spcBef>
                <a:spcPts val="160"/>
              </a:spcBef>
            </a:pPr>
            <a:r>
              <a:rPr sz="2000">
                <a:solidFill>
                  <a:srgbClr val="1A1A2E"/>
                </a:solidFill>
                <a:latin typeface="Calibri"/>
              </a:rPr>
              <a:t>前提是按 session_id 路由，而非仅按用户或来源 IP</a:t>
            </a:r>
          </a:p>
          <a:p>
            <a:pPr>
              <a:buChar char="▸"/>
              <a:buFont typeface="Arial"/>
              <a:spcBef>
                <a:spcPts val="160"/>
              </a:spcBef>
            </a:pPr>
            <a:r>
              <a:rPr sz="2000">
                <a:solidFill>
                  <a:srgbClr val="1A1A2E"/>
                </a:solidFill>
                <a:latin typeface="Calibri"/>
              </a:rPr>
              <a:t>一 Pod 一 ASGI 进程，避免多 Worker 内存不共享</a:t>
            </a:r>
          </a:p>
          <a:p>
            <a:pPr>
              <a:buChar char="▸"/>
              <a:buFont typeface="Arial"/>
              <a:spcBef>
                <a:spcPts val="160"/>
              </a:spcBef>
            </a:pPr>
            <a:r>
              <a:rPr sz="2000">
                <a:solidFill>
                  <a:srgbClr val="1A1A2E"/>
                </a:solidFill>
                <a:latin typeface="Calibri"/>
              </a:rPr>
              <a:t>Kubernetes ClientIP 亲和按来源 IP，不能当作业务会话保持</a:t>
            </a:r>
          </a:p>
          <a:p>
            <a:pPr>
              <a:buChar char="▸"/>
              <a:buFont typeface="Arial"/>
              <a:spcBef>
                <a:spcPts val="160"/>
              </a:spcBef>
            </a:pPr>
            <a:r>
              <a:rPr sz="2000">
                <a:solidFill>
                  <a:srgbClr val="1A1A2E"/>
                </a:solidFill>
                <a:latin typeface="Calibri"/>
              </a:rPr>
              <a:t>BFF 仍管理授权、会话版本、幂等、交接回执与生成文件</a:t>
            </a:r>
          </a:p>
        </p:txBody>
      </p:sp>
      <p:sp>
        <p:nvSpPr>
          <p:cNvPr id="7" name="Rectangle 6"/>
          <p:cNvSpPr/>
          <p:nvPr/>
        </p:nvSpPr>
        <p:spPr>
          <a:xfrm>
            <a:off x="0" y="4709160"/>
            <a:ext cx="9144000" cy="3200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4709160"/>
            <a:ext cx="5486400" cy="320040"/>
          </a:xfrm>
          <a:prstGeom prst="rect">
            <a:avLst/>
          </a:prstGeom>
          <a:noFill/>
        </p:spPr>
        <p:txBody>
          <a:bodyPr wrap="square"/>
          <a:lstStyle/>
          <a:p>
            <a:pPr algn="l"/>
            <a:r>
              <a:rPr sz="900" b="0">
                <a:solidFill>
                  <a:srgbClr val="CADCFC"/>
                </a:solidFill>
                <a:latin typeface="Calibri"/>
              </a:rPr>
              <a:t>In-Memory Session Memory Tradeoff</a:t>
            </a:r>
          </a:p>
        </p:txBody>
      </p:sp>
      <p:sp>
        <p:nvSpPr>
          <p:cNvPr id="9" name="TextBox 8"/>
          <p:cNvSpPr txBox="1"/>
          <p:nvPr/>
        </p:nvSpPr>
        <p:spPr>
          <a:xfrm>
            <a:off x="7772400" y="4709160"/>
            <a:ext cx="1188720" cy="320040"/>
          </a:xfrm>
          <a:prstGeom prst="rect">
            <a:avLst/>
          </a:prstGeom>
          <a:noFill/>
        </p:spPr>
        <p:txBody>
          <a:bodyPr wrap="square"/>
          <a:lstStyle/>
          <a:p>
            <a:pPr algn="r"/>
            <a:r>
              <a:rPr sz="900" b="0">
                <a:solidFill>
                  <a:srgbClr val="CADCFC"/>
                </a:solidFill>
                <a:latin typeface="Calibri"/>
              </a:rPr>
              <a:t>6 / 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F"/>
        </a:solidFill>
        <a:effectLst/>
      </p:bgPr>
    </p:bg>
    <p:spTree>
      <p:nvGrpSpPr>
        <p:cNvPr id="1" name=""/>
        <p:cNvGrpSpPr/>
        <p:nvPr/>
      </p:nvGrpSpPr>
      <p:grpSpPr/>
      <p:sp>
        <p:nvSpPr>
          <p:cNvPr id="2" name="Rectangle 1"/>
          <p:cNvSpPr/>
          <p:nvPr/>
        </p:nvSpPr>
        <p:spPr>
          <a:xfrm>
            <a:off x="0" y="0"/>
            <a:ext cx="109728"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56032"/>
            <a:ext cx="8321040" cy="658368"/>
          </a:xfrm>
          <a:prstGeom prst="rect">
            <a:avLst/>
          </a:prstGeom>
          <a:noFill/>
        </p:spPr>
        <p:txBody>
          <a:bodyPr wrap="square"/>
          <a:lstStyle/>
          <a:p>
            <a:pPr algn="l"/>
            <a:r>
              <a:rPr sz="2800" b="1">
                <a:solidFill>
                  <a:srgbClr val="FFFFFF"/>
                </a:solidFill>
                <a:latin typeface="Calibri"/>
              </a:rPr>
              <a:t>Memory Governance and Cleanup Limits</a:t>
            </a:r>
          </a:p>
        </p:txBody>
      </p:sp>
      <p:sp>
        <p:nvSpPr>
          <p:cNvPr id="5" name="TextBox 4"/>
          <p:cNvSpPr txBox="1"/>
          <p:nvPr/>
        </p:nvSpPr>
        <p:spPr>
          <a:xfrm>
            <a:off x="8503920" y="182880"/>
            <a:ext cx="457200" cy="548640"/>
          </a:xfrm>
          <a:prstGeom prst="rect">
            <a:avLst/>
          </a:prstGeom>
          <a:noFill/>
        </p:spPr>
        <p:txBody>
          <a:bodyPr wrap="square"/>
          <a:lstStyle/>
          <a:p>
            <a:pPr algn="ctr"/>
            <a:r>
              <a:rPr sz="2200" b="1">
                <a:solidFill>
                  <a:srgbClr val="CADCFC"/>
                </a:solidFill>
                <a:latin typeface="Calibri"/>
              </a:rPr>
              <a:t>7</a:t>
            </a:r>
          </a:p>
        </p:txBody>
      </p:sp>
      <p:sp>
        <p:nvSpPr>
          <p:cNvPr id="6" name="TextBox 5"/>
          <p:cNvSpPr txBox="1"/>
          <p:nvPr/>
        </p:nvSpPr>
        <p:spPr>
          <a:xfrm>
            <a:off x="594360" y="1051560"/>
            <a:ext cx="8321040" cy="3611880"/>
          </a:xfrm>
          <a:prstGeom prst="rect">
            <a:avLst/>
          </a:prstGeom>
          <a:noFill/>
        </p:spPr>
        <p:txBody>
          <a:bodyPr wrap="square">
            <a:spAutoFit/>
          </a:bodyPr>
          <a:lstStyle/>
          <a:p>
            <a:pPr>
              <a:buChar char="▸"/>
              <a:buFont typeface="Arial"/>
              <a:spcBef>
                <a:spcPts val="160"/>
              </a:spcBef>
            </a:pPr>
            <a:r>
              <a:rPr sz="2000">
                <a:solidFill>
                  <a:srgbClr val="1A1A2E"/>
                </a:solidFill>
                <a:latin typeface="Calibri"/>
              </a:rPr>
              <a:t>Route by session_id, not user or ClientIP; affinity only covers routing</a:t>
            </a:r>
          </a:p>
          <a:p>
            <a:pPr>
              <a:buChar char="▸"/>
              <a:buFont typeface="Arial"/>
              <a:spcBef>
                <a:spcPts val="160"/>
              </a:spcBef>
            </a:pPr>
            <a:r>
              <a:rPr sz="2000">
                <a:solidFill>
                  <a:srgbClr val="1A1A2E"/>
                </a:solidFill>
                <a:latin typeface="Calibri"/>
              </a:rPr>
              <a:t>Keep one ASGI process per pod since Python workers don't share memory</a:t>
            </a:r>
          </a:p>
          <a:p>
            <a:pPr>
              <a:buChar char="▸"/>
              <a:buFont typeface="Arial"/>
              <a:spcBef>
                <a:spcPts val="160"/>
              </a:spcBef>
            </a:pPr>
            <a:r>
              <a:rPr sz="2000">
                <a:solidFill>
                  <a:srgbClr val="1A1A2E"/>
                </a:solidFill>
                <a:latin typeface="Calibri"/>
              </a:rPr>
              <a:t>Accept requirement memory loss on restart, failure, or route change</a:t>
            </a:r>
          </a:p>
          <a:p>
            <a:pPr>
              <a:buChar char="▸"/>
              <a:buFont typeface="Arial"/>
              <a:spcBef>
                <a:spcPts val="160"/>
              </a:spcBef>
            </a:pPr>
            <a:r>
              <a:rPr sz="2000">
                <a:solidFill>
                  <a:srgbClr val="1A1A2E"/>
                </a:solidFill>
                <a:latin typeface="Calibri"/>
              </a:rPr>
              <a:t>Enforce 4-hour idle cleanup plus per-session and total size caps</a:t>
            </a:r>
          </a:p>
          <a:p>
            <a:pPr>
              <a:buChar char="▸"/>
              <a:buFont typeface="Arial"/>
              <a:spcBef>
                <a:spcPts val="160"/>
              </a:spcBef>
            </a:pPr>
            <a:r>
              <a:rPr sz="2000">
                <a:solidFill>
                  <a:srgbClr val="1A1A2E"/>
                </a:solidFill>
                <a:latin typeface="Calibri"/>
              </a:rPr>
              <a:t>BFF retains authorization, versioning, idempotency, handoff receipts, files</a:t>
            </a:r>
          </a:p>
        </p:txBody>
      </p:sp>
      <p:sp>
        <p:nvSpPr>
          <p:cNvPr id="7" name="Rectangle 6"/>
          <p:cNvSpPr/>
          <p:nvPr/>
        </p:nvSpPr>
        <p:spPr>
          <a:xfrm>
            <a:off x="0" y="4709160"/>
            <a:ext cx="9144000" cy="3200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4709160"/>
            <a:ext cx="5486400" cy="320040"/>
          </a:xfrm>
          <a:prstGeom prst="rect">
            <a:avLst/>
          </a:prstGeom>
          <a:noFill/>
        </p:spPr>
        <p:txBody>
          <a:bodyPr wrap="square"/>
          <a:lstStyle/>
          <a:p>
            <a:pPr algn="l"/>
            <a:r>
              <a:rPr sz="900" b="0">
                <a:solidFill>
                  <a:srgbClr val="CADCFC"/>
                </a:solidFill>
                <a:latin typeface="Calibri"/>
              </a:rPr>
              <a:t>In-Memory Session Memory Tradeoff</a:t>
            </a:r>
          </a:p>
        </p:txBody>
      </p:sp>
      <p:sp>
        <p:nvSpPr>
          <p:cNvPr id="9" name="TextBox 8"/>
          <p:cNvSpPr txBox="1"/>
          <p:nvPr/>
        </p:nvSpPr>
        <p:spPr>
          <a:xfrm>
            <a:off x="7772400" y="4709160"/>
            <a:ext cx="1188720" cy="320040"/>
          </a:xfrm>
          <a:prstGeom prst="rect">
            <a:avLst/>
          </a:prstGeom>
          <a:noFill/>
        </p:spPr>
        <p:txBody>
          <a:bodyPr wrap="square"/>
          <a:lstStyle/>
          <a:p>
            <a:pPr algn="r"/>
            <a:r>
              <a:rPr sz="900" b="0">
                <a:solidFill>
                  <a:srgbClr val="CADCFC"/>
                </a:solidFill>
                <a:latin typeface="Calibri"/>
              </a:rPr>
              <a:t>7 / 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F"/>
        </a:solidFill>
        <a:effectLst/>
      </p:bgPr>
    </p:bg>
    <p:spTree>
      <p:nvGrpSpPr>
        <p:cNvPr id="1" name=""/>
        <p:cNvGrpSpPr/>
        <p:nvPr/>
      </p:nvGrpSpPr>
      <p:grpSpPr/>
      <p:sp>
        <p:nvSpPr>
          <p:cNvPr id="2" name="Rectangle 1"/>
          <p:cNvSpPr/>
          <p:nvPr/>
        </p:nvSpPr>
        <p:spPr>
          <a:xfrm>
            <a:off x="0" y="0"/>
            <a:ext cx="109728"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56032"/>
            <a:ext cx="8321040" cy="658368"/>
          </a:xfrm>
          <a:prstGeom prst="rect">
            <a:avLst/>
          </a:prstGeom>
          <a:noFill/>
        </p:spPr>
        <p:txBody>
          <a:bodyPr wrap="square"/>
          <a:lstStyle/>
          <a:p>
            <a:pPr algn="l"/>
            <a:r>
              <a:rPr sz="2800" b="1">
                <a:solidFill>
                  <a:srgbClr val="FFFFFF"/>
                </a:solidFill>
                <a:latin typeface="Calibri"/>
              </a:rPr>
              <a:t>Handle Lost Context Transparently</a:t>
            </a:r>
          </a:p>
        </p:txBody>
      </p:sp>
      <p:sp>
        <p:nvSpPr>
          <p:cNvPr id="5" name="TextBox 4"/>
          <p:cNvSpPr txBox="1"/>
          <p:nvPr/>
        </p:nvSpPr>
        <p:spPr>
          <a:xfrm>
            <a:off x="8503920" y="182880"/>
            <a:ext cx="457200" cy="548640"/>
          </a:xfrm>
          <a:prstGeom prst="rect">
            <a:avLst/>
          </a:prstGeom>
          <a:noFill/>
        </p:spPr>
        <p:txBody>
          <a:bodyPr wrap="square"/>
          <a:lstStyle/>
          <a:p>
            <a:pPr algn="ctr"/>
            <a:r>
              <a:rPr sz="2200" b="1">
                <a:solidFill>
                  <a:srgbClr val="CADCFC"/>
                </a:solidFill>
                <a:latin typeface="Calibri"/>
              </a:rPr>
              <a:t>8</a:t>
            </a:r>
          </a:p>
        </p:txBody>
      </p:sp>
      <p:sp>
        <p:nvSpPr>
          <p:cNvPr id="6" name="TextBox 5"/>
          <p:cNvSpPr txBox="1"/>
          <p:nvPr/>
        </p:nvSpPr>
        <p:spPr>
          <a:xfrm>
            <a:off x="594360" y="1051560"/>
            <a:ext cx="8321040" cy="3611880"/>
          </a:xfrm>
          <a:prstGeom prst="rect">
            <a:avLst/>
          </a:prstGeom>
          <a:noFill/>
        </p:spPr>
        <p:txBody>
          <a:bodyPr wrap="square">
            <a:spAutoFit/>
          </a:bodyPr>
          <a:lstStyle/>
          <a:p>
            <a:pPr>
              <a:buChar char="▸"/>
              <a:buFont typeface="Arial"/>
              <a:spcBef>
                <a:spcPts val="160"/>
              </a:spcBef>
            </a:pPr>
            <a:r>
              <a:rPr sz="2000">
                <a:solidFill>
                  <a:srgbClr val="1A1A2E"/>
                </a:solidFill>
                <a:latin typeface="Calibri"/>
              </a:rPr>
              <a:t>In-memory requirement memory works only with session-affinity routing</a:t>
            </a:r>
          </a:p>
          <a:p>
            <a:pPr>
              <a:buChar char="▸"/>
              <a:buFont typeface="Arial"/>
              <a:spcBef>
                <a:spcPts val="160"/>
              </a:spcBef>
            </a:pPr>
            <a:r>
              <a:rPr sz="2000">
                <a:solidFill>
                  <a:srgbClr val="1A1A2E"/>
                </a:solidFill>
                <a:latin typeface="Calibri"/>
              </a:rPr>
              <a:t>Route by session ID, not client IP—Kubernetes ClientIP affinity groups users together</a:t>
            </a:r>
          </a:p>
          <a:p>
            <a:pPr>
              <a:buChar char="▸"/>
              <a:buFont typeface="Arial"/>
              <a:spcBef>
                <a:spcPts val="160"/>
              </a:spcBef>
            </a:pPr>
            <a:r>
              <a:rPr sz="2000">
                <a:solidFill>
                  <a:srgbClr val="1A1A2E"/>
                </a:solidFill>
                <a:latin typeface="Calibri"/>
              </a:rPr>
              <a:t>Keep one ASGI process per Pod; restarts and failures lose memory</a:t>
            </a:r>
          </a:p>
          <a:p>
            <a:pPr>
              <a:buChar char="▸"/>
              <a:buFont typeface="Arial"/>
              <a:spcBef>
                <a:spcPts val="160"/>
              </a:spcBef>
            </a:pPr>
            <a:r>
              <a:rPr sz="2000">
                <a:solidFill>
                  <a:srgbClr val="1A1A2E"/>
                </a:solidFill>
                <a:latin typeface="Calibri"/>
              </a:rPr>
              <a:t>On loss, say context expired, ask re-confirmation; BFF-stored files remain safe</a:t>
            </a:r>
          </a:p>
          <a:p>
            <a:pPr>
              <a:buChar char="▸"/>
              <a:buFont typeface="Arial"/>
              <a:spcBef>
                <a:spcPts val="160"/>
              </a:spcBef>
            </a:pPr>
            <a:r>
              <a:rPr sz="2000">
                <a:solidFill>
                  <a:srgbClr val="1A1A2E"/>
                </a:solidFill>
                <a:latin typeface="Calibri"/>
              </a:rPr>
              <a:t>Bind memory to identity with 4-hour idle cleanup and capacity caps</a:t>
            </a:r>
          </a:p>
        </p:txBody>
      </p:sp>
      <p:sp>
        <p:nvSpPr>
          <p:cNvPr id="7" name="Rectangle 6"/>
          <p:cNvSpPr/>
          <p:nvPr/>
        </p:nvSpPr>
        <p:spPr>
          <a:xfrm>
            <a:off x="0" y="4709160"/>
            <a:ext cx="9144000" cy="3200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4709160"/>
            <a:ext cx="5486400" cy="320040"/>
          </a:xfrm>
          <a:prstGeom prst="rect">
            <a:avLst/>
          </a:prstGeom>
          <a:noFill/>
        </p:spPr>
        <p:txBody>
          <a:bodyPr wrap="square"/>
          <a:lstStyle/>
          <a:p>
            <a:pPr algn="l"/>
            <a:r>
              <a:rPr sz="900" b="0">
                <a:solidFill>
                  <a:srgbClr val="CADCFC"/>
                </a:solidFill>
                <a:latin typeface="Calibri"/>
              </a:rPr>
              <a:t>In-Memory Session Memory Tradeoff</a:t>
            </a:r>
          </a:p>
        </p:txBody>
      </p:sp>
      <p:sp>
        <p:nvSpPr>
          <p:cNvPr id="9" name="TextBox 8"/>
          <p:cNvSpPr txBox="1"/>
          <p:nvPr/>
        </p:nvSpPr>
        <p:spPr>
          <a:xfrm>
            <a:off x="7772400" y="4709160"/>
            <a:ext cx="1188720" cy="320040"/>
          </a:xfrm>
          <a:prstGeom prst="rect">
            <a:avLst/>
          </a:prstGeom>
          <a:noFill/>
        </p:spPr>
        <p:txBody>
          <a:bodyPr wrap="square"/>
          <a:lstStyle/>
          <a:p>
            <a:pPr algn="r"/>
            <a:r>
              <a:rPr sz="900" b="0">
                <a:solidFill>
                  <a:srgbClr val="CADCFC"/>
                </a:solidFill>
                <a:latin typeface="Calibri"/>
              </a:rPr>
              <a:t>8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F"/>
        </a:solidFill>
        <a:effectLst/>
      </p:bgPr>
    </p:bg>
    <p:spTree>
      <p:nvGrpSpPr>
        <p:cNvPr id="1" name=""/>
        <p:cNvGrpSpPr/>
        <p:nvPr/>
      </p:nvGrpSpPr>
      <p:grpSpPr/>
      <p:sp>
        <p:nvSpPr>
          <p:cNvPr id="2" name="Rectangle 1"/>
          <p:cNvSpPr/>
          <p:nvPr/>
        </p:nvSpPr>
        <p:spPr>
          <a:xfrm>
            <a:off x="0" y="0"/>
            <a:ext cx="109728"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56032"/>
            <a:ext cx="8321040" cy="658368"/>
          </a:xfrm>
          <a:prstGeom prst="rect">
            <a:avLst/>
          </a:prstGeom>
          <a:noFill/>
        </p:spPr>
        <p:txBody>
          <a:bodyPr wrap="square"/>
          <a:lstStyle/>
          <a:p>
            <a:pPr algn="l"/>
            <a:r>
              <a:rPr sz="2800" b="1">
                <a:solidFill>
                  <a:srgbClr val="FFFFFF"/>
                </a:solidFill>
                <a:latin typeface="Calibri"/>
              </a:rPr>
              <a:t>Recommendation: Choose Memory or BFF Snapshot</a:t>
            </a:r>
          </a:p>
        </p:txBody>
      </p:sp>
      <p:sp>
        <p:nvSpPr>
          <p:cNvPr id="5" name="TextBox 4"/>
          <p:cNvSpPr txBox="1"/>
          <p:nvPr/>
        </p:nvSpPr>
        <p:spPr>
          <a:xfrm>
            <a:off x="8503920" y="182880"/>
            <a:ext cx="457200" cy="548640"/>
          </a:xfrm>
          <a:prstGeom prst="rect">
            <a:avLst/>
          </a:prstGeom>
          <a:noFill/>
        </p:spPr>
        <p:txBody>
          <a:bodyPr wrap="square"/>
          <a:lstStyle/>
          <a:p>
            <a:pPr algn="ctr"/>
            <a:r>
              <a:rPr sz="2200" b="1">
                <a:solidFill>
                  <a:srgbClr val="CADCFC"/>
                </a:solidFill>
                <a:latin typeface="Calibri"/>
              </a:rPr>
              <a:t>9</a:t>
            </a:r>
          </a:p>
        </p:txBody>
      </p:sp>
      <p:sp>
        <p:nvSpPr>
          <p:cNvPr id="6" name="TextBox 5"/>
          <p:cNvSpPr txBox="1"/>
          <p:nvPr/>
        </p:nvSpPr>
        <p:spPr>
          <a:xfrm>
            <a:off x="594360" y="1051560"/>
            <a:ext cx="8321040" cy="3611880"/>
          </a:xfrm>
          <a:prstGeom prst="rect">
            <a:avLst/>
          </a:prstGeom>
          <a:noFill/>
        </p:spPr>
        <p:txBody>
          <a:bodyPr wrap="square">
            <a:spAutoFit/>
          </a:bodyPr>
          <a:lstStyle/>
          <a:p>
            <a:pPr>
              <a:buChar char="▸"/>
              <a:buFont typeface="Arial"/>
              <a:spcBef>
                <a:spcPts val="160"/>
              </a:spcBef>
            </a:pPr>
            <a:r>
              <a:rPr sz="2000">
                <a:solidFill>
                  <a:srgbClr val="1A1A2E"/>
                </a:solidFill>
                <a:latin typeface="Calibri"/>
              </a:rPr>
              <a:t>In-memory demand memory requires sticky BFF-to-GenSlide routing per session ID</a:t>
            </a:r>
          </a:p>
          <a:p>
            <a:pPr>
              <a:buChar char="▸"/>
              <a:buFont typeface="Arial"/>
              <a:spcBef>
                <a:spcPts val="160"/>
              </a:spcBef>
            </a:pPr>
            <a:r>
              <a:rPr sz="2000">
                <a:solidFill>
                  <a:srgbClr val="1A1A2E"/>
                </a:solidFill>
                <a:latin typeface="Calibri"/>
              </a:rPr>
              <a:t>One ASGI process per Pod keeps workers sharing the same memory</a:t>
            </a:r>
          </a:p>
          <a:p>
            <a:pPr>
              <a:buChar char="▸"/>
              <a:buFont typeface="Arial"/>
              <a:spcBef>
                <a:spcPts val="160"/>
              </a:spcBef>
            </a:pPr>
            <a:r>
              <a:rPr sz="2000">
                <a:solidFill>
                  <a:srgbClr val="1A1A2E"/>
                </a:solidFill>
                <a:latin typeface="Calibri"/>
              </a:rPr>
              <a:t>Restarts, failures, or routing changes mean demand memory is lost</a:t>
            </a:r>
          </a:p>
          <a:p>
            <a:pPr>
              <a:buChar char="▸"/>
              <a:buFont typeface="Arial"/>
              <a:spcBef>
                <a:spcPts val="160"/>
              </a:spcBef>
            </a:pPr>
            <a:r>
              <a:rPr sz="2000">
                <a:solidFill>
                  <a:srgbClr val="1A1A2E"/>
                </a:solidFill>
                <a:latin typeface="Calibri"/>
              </a:rPr>
              <a:t>Kubernetes ClientIP affinity routes by IP, not session_id, so it is unsuitable</a:t>
            </a:r>
          </a:p>
          <a:p>
            <a:pPr>
              <a:buChar char="▸"/>
              <a:buFont typeface="Arial"/>
              <a:spcBef>
                <a:spcPts val="160"/>
              </a:spcBef>
            </a:pPr>
            <a:r>
              <a:rPr sz="2000">
                <a:solidFill>
                  <a:srgbClr val="1A1A2E"/>
                </a:solidFill>
                <a:latin typeface="Calibri"/>
              </a:rPr>
              <a:t>Accept re-confirmation after restart, or keep the BFF snapshot</a:t>
            </a:r>
          </a:p>
        </p:txBody>
      </p:sp>
      <p:sp>
        <p:nvSpPr>
          <p:cNvPr id="7" name="Rectangle 6"/>
          <p:cNvSpPr/>
          <p:nvPr/>
        </p:nvSpPr>
        <p:spPr>
          <a:xfrm>
            <a:off x="0" y="4709160"/>
            <a:ext cx="9144000" cy="3200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4709160"/>
            <a:ext cx="5486400" cy="320040"/>
          </a:xfrm>
          <a:prstGeom prst="rect">
            <a:avLst/>
          </a:prstGeom>
          <a:noFill/>
        </p:spPr>
        <p:txBody>
          <a:bodyPr wrap="square"/>
          <a:lstStyle/>
          <a:p>
            <a:pPr algn="l"/>
            <a:r>
              <a:rPr sz="900" b="0">
                <a:solidFill>
                  <a:srgbClr val="CADCFC"/>
                </a:solidFill>
                <a:latin typeface="Calibri"/>
              </a:rPr>
              <a:t>In-Memory Session Memory Tradeoff</a:t>
            </a:r>
          </a:p>
        </p:txBody>
      </p:sp>
      <p:sp>
        <p:nvSpPr>
          <p:cNvPr id="9" name="TextBox 8"/>
          <p:cNvSpPr txBox="1"/>
          <p:nvPr/>
        </p:nvSpPr>
        <p:spPr>
          <a:xfrm>
            <a:off x="7772400" y="4709160"/>
            <a:ext cx="1188720" cy="320040"/>
          </a:xfrm>
          <a:prstGeom prst="rect">
            <a:avLst/>
          </a:prstGeom>
          <a:noFill/>
        </p:spPr>
        <p:txBody>
          <a:bodyPr wrap="square"/>
          <a:lstStyle/>
          <a:p>
            <a:pPr algn="r"/>
            <a:r>
              <a:rPr sz="900" b="0">
                <a:solidFill>
                  <a:srgbClr val="CADCFC"/>
                </a:solidFill>
                <a:latin typeface="Calibri"/>
              </a:rPr>
              <a:t>9 / 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201168" cy="51435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0"/>
            <a:ext cx="8046720" cy="1097280"/>
          </a:xfrm>
          <a:prstGeom prst="rect">
            <a:avLst/>
          </a:prstGeom>
          <a:noFill/>
        </p:spPr>
        <p:txBody>
          <a:bodyPr wrap="square"/>
          <a:lstStyle/>
          <a:p>
            <a:pPr algn="l"/>
            <a:r>
              <a:rPr sz="4400" b="1">
                <a:solidFill>
                  <a:srgbClr val="FFFFFF"/>
                </a:solidFill>
                <a:latin typeface="Calibri"/>
              </a:rPr>
              <a:t>Thank you</a:t>
            </a:r>
          </a:p>
        </p:txBody>
      </p:sp>
      <p:sp>
        <p:nvSpPr>
          <p:cNvPr id="4" name="Rectangle 3"/>
          <p:cNvSpPr/>
          <p:nvPr/>
        </p:nvSpPr>
        <p:spPr>
          <a:xfrm>
            <a:off x="502920" y="2834640"/>
            <a:ext cx="2286000" cy="254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017520"/>
            <a:ext cx="8046720" cy="640080"/>
          </a:xfrm>
          <a:prstGeom prst="rect">
            <a:avLst/>
          </a:prstGeom>
          <a:noFill/>
        </p:spPr>
        <p:txBody>
          <a:bodyPr wrap="square"/>
          <a:lstStyle/>
          <a:p>
            <a:pPr algn="l"/>
            <a:r>
              <a:rPr sz="1800" b="0">
                <a:solidFill>
                  <a:srgbClr val="CADCFC"/>
                </a:solidFill>
                <a:latin typeface="Calibri"/>
              </a:rPr>
              <a:t>In-Memory Session Memory Tradeoff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